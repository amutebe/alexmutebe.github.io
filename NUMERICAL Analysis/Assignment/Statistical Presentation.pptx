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2" r:id="rId7"/>
    <p:sldId id="261"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383" autoAdjust="0"/>
  </p:normalViewPr>
  <p:slideViewPr>
    <p:cSldViewPr snapToGrid="0">
      <p:cViewPr varScale="1">
        <p:scale>
          <a:sx n="98" d="100"/>
          <a:sy n="98"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16C56-CA30-429B-A9AB-4C7CDC7AC7EB}" type="datetimeFigureOut">
              <a:rPr lang="en-US" smtClean="0"/>
              <a:t>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F4854-9AB0-4202-82B7-B6FB3CBEFBF0}" type="slidenum">
              <a:rPr lang="en-US" smtClean="0"/>
              <a:t>‹#›</a:t>
            </a:fld>
            <a:endParaRPr lang="en-US"/>
          </a:p>
        </p:txBody>
      </p:sp>
    </p:spTree>
    <p:extLst>
      <p:ext uri="{BB962C8B-B14F-4D97-AF65-F5344CB8AC3E}">
        <p14:creationId xmlns:p14="http://schemas.microsoft.com/office/powerpoint/2010/main" val="6677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Moinuddin</a:t>
            </a:r>
            <a:r>
              <a:rPr lang="en-US" dirty="0" smtClean="0"/>
              <a:t>, A., </a:t>
            </a:r>
            <a:r>
              <a:rPr lang="en-US" dirty="0" err="1" smtClean="0"/>
              <a:t>Goel</a:t>
            </a:r>
            <a:r>
              <a:rPr lang="en-US" dirty="0" smtClean="0"/>
              <a:t>, A., Saini, S., </a:t>
            </a:r>
            <a:r>
              <a:rPr lang="en-US" dirty="0" err="1" smtClean="0"/>
              <a:t>Bajpai</a:t>
            </a:r>
            <a:r>
              <a:rPr lang="en-US" dirty="0" smtClean="0"/>
              <a:t>, A. and </a:t>
            </a:r>
            <a:r>
              <a:rPr lang="en-US" dirty="0" err="1" smtClean="0"/>
              <a:t>Misra</a:t>
            </a:r>
            <a:r>
              <a:rPr lang="en-US" dirty="0" smtClean="0"/>
              <a:t>, R., 2016. Alcohol consumption and gender: a critical review. </a:t>
            </a:r>
            <a:r>
              <a:rPr lang="en-US" i="1" dirty="0" smtClean="0"/>
              <a:t>J </a:t>
            </a:r>
            <a:r>
              <a:rPr lang="en-US" i="1" dirty="0" err="1" smtClean="0"/>
              <a:t>Psychol</a:t>
            </a:r>
            <a:r>
              <a:rPr lang="en-US" i="1" dirty="0" smtClean="0"/>
              <a:t> </a:t>
            </a:r>
            <a:r>
              <a:rPr lang="en-US" i="1" dirty="0" err="1" smtClean="0"/>
              <a:t>Psychother</a:t>
            </a:r>
            <a:r>
              <a:rPr lang="en-US" dirty="0" smtClean="0"/>
              <a:t>, </a:t>
            </a:r>
            <a:r>
              <a:rPr lang="en-US" i="1" dirty="0" smtClean="0"/>
              <a:t>6</a:t>
            </a:r>
            <a:r>
              <a:rPr lang="en-US" dirty="0" smtClean="0"/>
              <a:t>(3), pp.1-4.</a:t>
            </a:r>
          </a:p>
          <a:p>
            <a:r>
              <a:rPr lang="en-US" dirty="0" smtClean="0"/>
              <a:t>Davoren, M.P., </a:t>
            </a:r>
            <a:r>
              <a:rPr lang="en-US" dirty="0" err="1" smtClean="0"/>
              <a:t>Demant</a:t>
            </a:r>
            <a:r>
              <a:rPr lang="en-US" dirty="0" smtClean="0"/>
              <a:t>, J., </a:t>
            </a:r>
            <a:r>
              <a:rPr lang="en-US" dirty="0" err="1" smtClean="0"/>
              <a:t>Shiely</a:t>
            </a:r>
            <a:r>
              <a:rPr lang="en-US" dirty="0" smtClean="0"/>
              <a:t>, F. and Perry, I.J., 2016. Alcohol consumption among university students in Ireland and the United Kingdom from 2002 to 2014: a systematic review. </a:t>
            </a:r>
            <a:r>
              <a:rPr lang="en-US" i="1" dirty="0" smtClean="0"/>
              <a:t>BMC public health</a:t>
            </a:r>
            <a:r>
              <a:rPr lang="en-US" dirty="0" smtClean="0"/>
              <a:t>, </a:t>
            </a:r>
            <a:r>
              <a:rPr lang="en-US" i="1" dirty="0" smtClean="0"/>
              <a:t>16</a:t>
            </a:r>
            <a:r>
              <a:rPr lang="en-US" dirty="0" smtClean="0"/>
              <a:t>(1), pp.1-13.</a:t>
            </a:r>
          </a:p>
          <a:p>
            <a:r>
              <a:rPr lang="en-US" dirty="0" smtClean="0"/>
              <a:t>Meier, P.S., Holmes, J., Brennan, A. and Angus, C., 2021. Alcohol policy and gender: a modelling study estimating gender‐specific effects of alcohol pricing policies. </a:t>
            </a:r>
            <a:r>
              <a:rPr lang="en-US" i="1" dirty="0" smtClean="0"/>
              <a:t>Addiction</a:t>
            </a:r>
            <a:r>
              <a:rPr lang="en-US" dirty="0" smtClean="0"/>
              <a:t>, </a:t>
            </a:r>
            <a:r>
              <a:rPr lang="en-US" i="1" dirty="0" smtClean="0"/>
              <a:t>116</a:t>
            </a:r>
            <a:r>
              <a:rPr lang="en-US" dirty="0" smtClean="0"/>
              <a:t>(9), pp.2372-2384.</a:t>
            </a:r>
          </a:p>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18</a:t>
            </a:fld>
            <a:endParaRPr lang="en-US"/>
          </a:p>
        </p:txBody>
      </p:sp>
    </p:spTree>
    <p:extLst>
      <p:ext uri="{BB962C8B-B14F-4D97-AF65-F5344CB8AC3E}">
        <p14:creationId xmlns:p14="http://schemas.microsoft.com/office/powerpoint/2010/main" val="3008073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Fitzgerald, N., Angus, K., </a:t>
            </a:r>
            <a:r>
              <a:rPr lang="en-US" sz="1200" b="0" i="0" kern="1200" dirty="0" err="1" smtClean="0">
                <a:solidFill>
                  <a:schemeClr val="tx1"/>
                </a:solidFill>
                <a:effectLst/>
                <a:latin typeface="+mn-lt"/>
                <a:ea typeface="+mn-ea"/>
                <a:cs typeface="+mn-cs"/>
              </a:rPr>
              <a:t>Emslie</a:t>
            </a:r>
            <a:r>
              <a:rPr lang="en-US" sz="1200" b="0" i="0" kern="1200" dirty="0" smtClean="0">
                <a:solidFill>
                  <a:schemeClr val="tx1"/>
                </a:solidFill>
                <a:effectLst/>
                <a:latin typeface="+mn-lt"/>
                <a:ea typeface="+mn-ea"/>
                <a:cs typeface="+mn-cs"/>
              </a:rPr>
              <a:t>, C., </a:t>
            </a:r>
            <a:r>
              <a:rPr lang="en-US" sz="1200" b="0" i="0" kern="1200" dirty="0" err="1" smtClean="0">
                <a:solidFill>
                  <a:schemeClr val="tx1"/>
                </a:solidFill>
                <a:effectLst/>
                <a:latin typeface="+mn-lt"/>
                <a:ea typeface="+mn-ea"/>
                <a:cs typeface="+mn-cs"/>
              </a:rPr>
              <a:t>Shipton</a:t>
            </a:r>
            <a:r>
              <a:rPr lang="en-US" sz="1200" b="0" i="0" kern="1200" dirty="0" smtClean="0">
                <a:solidFill>
                  <a:schemeClr val="tx1"/>
                </a:solidFill>
                <a:effectLst/>
                <a:latin typeface="+mn-lt"/>
                <a:ea typeface="+mn-ea"/>
                <a:cs typeface="+mn-cs"/>
              </a:rPr>
              <a:t>, D. and </a:t>
            </a:r>
            <a:r>
              <a:rPr lang="en-US" sz="1200" b="0" i="0" kern="1200" dirty="0" err="1" smtClean="0">
                <a:solidFill>
                  <a:schemeClr val="tx1"/>
                </a:solidFill>
                <a:effectLst/>
                <a:latin typeface="+mn-lt"/>
                <a:ea typeface="+mn-ea"/>
                <a:cs typeface="+mn-cs"/>
              </a:rPr>
              <a:t>Bauld</a:t>
            </a:r>
            <a:r>
              <a:rPr lang="en-US" sz="1200" b="0" i="0" kern="1200" dirty="0" smtClean="0">
                <a:solidFill>
                  <a:schemeClr val="tx1"/>
                </a:solidFill>
                <a:effectLst/>
                <a:latin typeface="+mn-lt"/>
                <a:ea typeface="+mn-ea"/>
                <a:cs typeface="+mn-cs"/>
              </a:rPr>
              <a:t>, L., 2016. Gender differences in the impact of population‐level alcohol policy interventions: evidence synthesis of systematic reviews. </a:t>
            </a:r>
            <a:r>
              <a:rPr lang="en-US" sz="1200" b="0" i="1" kern="1200" dirty="0" smtClean="0">
                <a:solidFill>
                  <a:schemeClr val="tx1"/>
                </a:solidFill>
                <a:effectLst/>
                <a:latin typeface="+mn-lt"/>
                <a:ea typeface="+mn-ea"/>
                <a:cs typeface="+mn-cs"/>
              </a:rPr>
              <a:t>Addiction</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111</a:t>
            </a:r>
            <a:r>
              <a:rPr lang="en-US" sz="1200" b="0" i="0" kern="1200" dirty="0" smtClean="0">
                <a:solidFill>
                  <a:schemeClr val="tx1"/>
                </a:solidFill>
                <a:effectLst/>
                <a:latin typeface="+mn-lt"/>
                <a:ea typeface="+mn-ea"/>
                <a:cs typeface="+mn-cs"/>
              </a:rPr>
              <a:t>(10), pp.1735-1747.</a:t>
            </a:r>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19</a:t>
            </a:fld>
            <a:endParaRPr lang="en-US"/>
          </a:p>
        </p:txBody>
      </p:sp>
    </p:spTree>
    <p:extLst>
      <p:ext uri="{BB962C8B-B14F-4D97-AF65-F5344CB8AC3E}">
        <p14:creationId xmlns:p14="http://schemas.microsoft.com/office/powerpoint/2010/main" val="2342085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7217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18533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08596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4138398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D4EFAF-DCC8-4514-B777-7FA0ED4534DE}" type="datetimeFigureOut">
              <a:rPr lang="en-US" smtClean="0"/>
              <a:t>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256899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D4EFAF-DCC8-4514-B777-7FA0ED4534DE}" type="datetimeFigureOut">
              <a:rPr lang="en-US" smtClean="0"/>
              <a:t>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4282518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D4EFAF-DCC8-4514-B777-7FA0ED4534DE}" type="datetimeFigureOut">
              <a:rPr lang="en-US" smtClean="0"/>
              <a:t>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855150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918276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48919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2597775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693595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4EFAF-DCC8-4514-B777-7FA0ED4534DE}" type="datetimeFigureOut">
              <a:rPr lang="en-US" smtClean="0"/>
              <a:t>2/14/2024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B8C34B-D1C3-49B3-9360-1B49136FB178}" type="slidenum">
              <a:rPr lang="en-US" smtClean="0"/>
              <a:t>‹#›</a:t>
            </a:fld>
            <a:endParaRPr lang="en-US"/>
          </a:p>
        </p:txBody>
      </p:sp>
    </p:spTree>
    <p:extLst>
      <p:ext uri="{BB962C8B-B14F-4D97-AF65-F5344CB8AC3E}">
        <p14:creationId xmlns:p14="http://schemas.microsoft.com/office/powerpoint/2010/main" val="1791269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Statistical Presentation</a:t>
            </a:r>
            <a:endParaRPr lang="en-US" dirty="0"/>
          </a:p>
        </p:txBody>
      </p:sp>
      <p:sp>
        <p:nvSpPr>
          <p:cNvPr id="3" name="Subtitle 2"/>
          <p:cNvSpPr>
            <a:spLocks noGrp="1"/>
          </p:cNvSpPr>
          <p:nvPr>
            <p:ph type="subTitle" idx="1"/>
          </p:nvPr>
        </p:nvSpPr>
        <p:spPr/>
        <p:txBody>
          <a:bodyPr/>
          <a:lstStyle/>
          <a:p>
            <a:endParaRPr lang="en-US"/>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522180406"/>
      </p:ext>
    </p:extLst>
  </p:cSld>
  <p:clrMapOvr>
    <a:masterClrMapping/>
  </p:clrMapOvr>
  <mc:AlternateContent xmlns:mc="http://schemas.openxmlformats.org/markup-compatibility/2006" xmlns:p14="http://schemas.microsoft.com/office/powerpoint/2010/main">
    <mc:Choice Requires="p14">
      <p:transition spd="slow" p14:dur="2000" advTm="28515"/>
    </mc:Choice>
    <mc:Fallback xmlns="">
      <p:transition spd="slow" advTm="285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GB" dirty="0" smtClean="0"/>
              <a:t>Introduction</a:t>
            </a:r>
            <a:endParaRPr lang="en-US" dirty="0"/>
          </a:p>
        </p:txBody>
      </p:sp>
      <p:sp>
        <p:nvSpPr>
          <p:cNvPr id="3" name="Content Placeholder 2"/>
          <p:cNvSpPr>
            <a:spLocks noGrp="1"/>
          </p:cNvSpPr>
          <p:nvPr>
            <p:ph idx="1"/>
          </p:nvPr>
        </p:nvSpPr>
        <p:spPr>
          <a:xfrm>
            <a:off x="838200" y="1149531"/>
            <a:ext cx="10515600" cy="5027432"/>
          </a:xfrm>
        </p:spPr>
        <p:txBody>
          <a:bodyPr/>
          <a:lstStyle/>
          <a:p>
            <a:endParaRPr lang="en-US" dirty="0"/>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608685747"/>
      </p:ext>
    </p:extLst>
  </p:cSld>
  <p:clrMapOvr>
    <a:masterClrMapping/>
  </p:clrMapOvr>
  <mc:AlternateContent xmlns:mc="http://schemas.openxmlformats.org/markup-compatibility/2006" xmlns:p14="http://schemas.microsoft.com/office/powerpoint/2010/main">
    <mc:Choice Requires="p14">
      <p:transition spd="slow" p14:dur="2000" advTm="18659"/>
    </mc:Choice>
    <mc:Fallback xmlns="">
      <p:transition spd="slow" advTm="186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ACB46C0-191B-15D8-F93E-FA912F86FE30}"/>
              </a:ext>
            </a:extLst>
          </p:cNvPr>
          <p:cNvSpPr txBox="1"/>
          <p:nvPr/>
        </p:nvSpPr>
        <p:spPr>
          <a:xfrm>
            <a:off x="0" y="3180745"/>
            <a:ext cx="5035202" cy="4247317"/>
          </a:xfrm>
          <a:prstGeom prst="rect">
            <a:avLst/>
          </a:prstGeom>
          <a:noFill/>
        </p:spPr>
        <p:txBody>
          <a:bodyPr wrap="square">
            <a:spAutoFit/>
          </a:bodyPr>
          <a:lstStyle/>
          <a:p>
            <a:pPr algn="l"/>
            <a:endParaRPr lang="en-GB" b="0" i="0" u="none" strike="noStrike" dirty="0" smtClean="0">
              <a:solidFill>
                <a:srgbClr val="373A3C"/>
              </a:solidFill>
              <a:effectLst/>
              <a:latin typeface="arial" panose="020B0604020202020204" pitchFamily="34" charset="0"/>
            </a:endParaRPr>
          </a:p>
          <a:p>
            <a:pPr algn="l"/>
            <a:endParaRPr lang="en-GB" dirty="0">
              <a:solidFill>
                <a:srgbClr val="373A3C"/>
              </a:solidFill>
              <a:latin typeface="arial" panose="020B0604020202020204" pitchFamily="34" charset="0"/>
            </a:endParaRPr>
          </a:p>
          <a:p>
            <a:pPr marL="342900" indent="-342900" algn="l">
              <a:buAutoNum type="alphaLcPeriod"/>
            </a:pPr>
            <a:r>
              <a:rPr lang="en-GB" b="0" i="0" u="none" strike="noStrike" dirty="0" smtClean="0">
                <a:solidFill>
                  <a:srgbClr val="373A3C"/>
                </a:solidFill>
                <a:effectLst/>
                <a:latin typeface="arial" panose="020B0604020202020204" pitchFamily="34" charset="0"/>
              </a:rPr>
              <a:t>How </a:t>
            </a:r>
            <a:r>
              <a:rPr lang="en-GB" b="0" i="0" u="none" strike="noStrike" dirty="0">
                <a:solidFill>
                  <a:srgbClr val="373A3C"/>
                </a:solidFill>
                <a:effectLst/>
                <a:latin typeface="arial" panose="020B0604020202020204" pitchFamily="34" charset="0"/>
              </a:rPr>
              <a:t>many people are included in the sample? </a:t>
            </a:r>
            <a:endParaRPr lang="en-GB" b="0" i="0" u="none" strike="noStrike" dirty="0" smtClean="0">
              <a:solidFill>
                <a:srgbClr val="373A3C"/>
              </a:solidFill>
              <a:effectLst/>
              <a:latin typeface="arial" panose="020B0604020202020204" pitchFamily="34" charset="0"/>
            </a:endParaRPr>
          </a:p>
          <a:p>
            <a:pPr algn="l"/>
            <a:endParaRPr lang="en-GB" b="0" i="0" u="none" strike="noStrike" dirty="0">
              <a:solidFill>
                <a:srgbClr val="373A3C"/>
              </a:solidFill>
              <a:effectLst/>
              <a:latin typeface="arial" panose="020B0604020202020204" pitchFamily="34" charset="0"/>
            </a:endParaRPr>
          </a:p>
          <a:p>
            <a:pPr algn="l"/>
            <a:r>
              <a:rPr lang="en-GB" b="0" i="0" u="none" strike="noStrike" dirty="0">
                <a:solidFill>
                  <a:srgbClr val="373A3C"/>
                </a:solidFill>
                <a:effectLst/>
                <a:latin typeface="arial" panose="020B0604020202020204" pitchFamily="34" charset="0"/>
              </a:rPr>
              <a:t>b. What is the percentage of people who drink alcohol? </a:t>
            </a:r>
            <a:endParaRPr lang="en-GB" b="0" i="0" u="none" strike="noStrike" dirty="0" smtClean="0">
              <a:solidFill>
                <a:srgbClr val="373A3C"/>
              </a:solidFill>
              <a:effectLst/>
              <a:latin typeface="arial" panose="020B0604020202020204" pitchFamily="34" charset="0"/>
            </a:endParaRPr>
          </a:p>
          <a:p>
            <a:pPr algn="l"/>
            <a:endParaRPr lang="en-GB" b="0" i="0" u="none" strike="noStrike" dirty="0">
              <a:solidFill>
                <a:srgbClr val="373A3C"/>
              </a:solidFill>
              <a:effectLst/>
              <a:latin typeface="arial" panose="020B0604020202020204" pitchFamily="34" charset="0"/>
            </a:endParaRPr>
          </a:p>
          <a:p>
            <a:pPr algn="l"/>
            <a:r>
              <a:rPr lang="en-GB" b="0" i="0" u="none" strike="noStrike" dirty="0">
                <a:solidFill>
                  <a:srgbClr val="373A3C"/>
                </a:solidFill>
                <a:effectLst/>
                <a:latin typeface="arial" panose="020B0604020202020204" pitchFamily="34" charset="0"/>
              </a:rPr>
              <a:t>c. What is the percentage of women in the sample</a:t>
            </a:r>
            <a:r>
              <a:rPr lang="en-GB" b="0" i="0" u="none" strike="noStrike" dirty="0" smtClean="0">
                <a:solidFill>
                  <a:srgbClr val="373A3C"/>
                </a:solidFill>
                <a:effectLst/>
                <a:latin typeface="arial" panose="020B0604020202020204" pitchFamily="34" charset="0"/>
              </a:rPr>
              <a:t>?</a:t>
            </a:r>
          </a:p>
          <a:p>
            <a:pPr algn="l"/>
            <a:endParaRPr lang="en-GB" b="0" i="0" u="none" strike="noStrike" dirty="0">
              <a:solidFill>
                <a:srgbClr val="373A3C"/>
              </a:solidFill>
              <a:effectLst/>
              <a:latin typeface="arial" panose="020B0604020202020204" pitchFamily="34" charset="0"/>
            </a:endParaRPr>
          </a:p>
          <a:p>
            <a:pPr algn="l"/>
            <a:r>
              <a:rPr lang="en-GB" b="0" i="0" u="none" strike="noStrike" dirty="0">
                <a:solidFill>
                  <a:srgbClr val="373A3C"/>
                </a:solidFill>
                <a:effectLst/>
                <a:latin typeface="arial" panose="020B0604020202020204" pitchFamily="34" charset="0"/>
              </a:rPr>
              <a:t>d. What is the highest educational level? </a:t>
            </a:r>
            <a:endParaRPr lang="en-GB" b="0" i="0" u="none" strike="noStrike" dirty="0" smtClean="0">
              <a:solidFill>
                <a:srgbClr val="373A3C"/>
              </a:solidFill>
              <a:effectLst/>
              <a:latin typeface="arial" panose="020B0604020202020204" pitchFamily="34" charset="0"/>
            </a:endParaRPr>
          </a:p>
          <a:p>
            <a:pPr algn="l"/>
            <a:endParaRPr lang="en-GB" b="0" i="0" u="none" strike="noStrike" dirty="0">
              <a:solidFill>
                <a:srgbClr val="373A3C"/>
              </a:solidFill>
              <a:effectLst/>
              <a:latin typeface="arial" panose="020B0604020202020204" pitchFamily="34" charset="0"/>
            </a:endParaRPr>
          </a:p>
          <a:p>
            <a:pPr algn="l"/>
            <a:r>
              <a:rPr lang="en-GB" b="0" i="0" u="none" strike="noStrike" dirty="0">
                <a:solidFill>
                  <a:srgbClr val="373A3C"/>
                </a:solidFill>
                <a:effectLst/>
                <a:latin typeface="arial" panose="020B0604020202020204" pitchFamily="34" charset="0"/>
              </a:rPr>
              <a:t>e. What is percentage of divorced and separated people?</a:t>
            </a:r>
          </a:p>
        </p:txBody>
      </p:sp>
      <p:graphicFrame>
        <p:nvGraphicFramePr>
          <p:cNvPr id="7" name="Table 6">
            <a:extLst>
              <a:ext uri="{FF2B5EF4-FFF2-40B4-BE49-F238E27FC236}">
                <a16:creationId xmlns:a16="http://schemas.microsoft.com/office/drawing/2014/main" id="{7A1F46CB-49A5-390F-B9E2-49F027BF5C16}"/>
              </a:ext>
            </a:extLst>
          </p:cNvPr>
          <p:cNvGraphicFramePr>
            <a:graphicFrameLocks noGrp="1"/>
          </p:cNvGraphicFramePr>
          <p:nvPr>
            <p:extLst>
              <p:ext uri="{D42A27DB-BD31-4B8C-83A1-F6EECF244321}">
                <p14:modId xmlns:p14="http://schemas.microsoft.com/office/powerpoint/2010/main" val="3731305463"/>
              </p:ext>
            </p:extLst>
          </p:nvPr>
        </p:nvGraphicFramePr>
        <p:xfrm>
          <a:off x="5884288" y="2005088"/>
          <a:ext cx="6094352" cy="3598878"/>
        </p:xfrm>
        <a:graphic>
          <a:graphicData uri="http://schemas.openxmlformats.org/drawingml/2006/table">
            <a:tbl>
              <a:tblPr firstRow="1" bandRow="1">
                <a:tableStyleId>{5C22544A-7EE6-4342-B048-85BDC9FD1C3A}</a:tableStyleId>
              </a:tblPr>
              <a:tblGrid>
                <a:gridCol w="3321696">
                  <a:extLst>
                    <a:ext uri="{9D8B030D-6E8A-4147-A177-3AD203B41FA5}">
                      <a16:colId xmlns:a16="http://schemas.microsoft.com/office/drawing/2014/main" val="2491235239"/>
                    </a:ext>
                  </a:extLst>
                </a:gridCol>
                <a:gridCol w="2772656">
                  <a:extLst>
                    <a:ext uri="{9D8B030D-6E8A-4147-A177-3AD203B41FA5}">
                      <a16:colId xmlns:a16="http://schemas.microsoft.com/office/drawing/2014/main" val="1153091301"/>
                    </a:ext>
                  </a:extLst>
                </a:gridCol>
              </a:tblGrid>
              <a:tr h="440064">
                <a:tc>
                  <a:txBody>
                    <a:bodyPr/>
                    <a:lstStyle/>
                    <a:p>
                      <a:r>
                        <a:rPr lang="en-US" dirty="0"/>
                        <a:t>Total sample</a:t>
                      </a:r>
                    </a:p>
                  </a:txBody>
                  <a:tcPr/>
                </a:tc>
                <a:tc>
                  <a:txBody>
                    <a:bodyPr/>
                    <a:lstStyle/>
                    <a:p>
                      <a:r>
                        <a:rPr lang="en-US" dirty="0"/>
                        <a:t>??</a:t>
                      </a:r>
                    </a:p>
                  </a:txBody>
                  <a:tcPr/>
                </a:tc>
                <a:extLst>
                  <a:ext uri="{0D108BD9-81ED-4DB2-BD59-A6C34878D82A}">
                    <a16:rowId xmlns:a16="http://schemas.microsoft.com/office/drawing/2014/main" val="2446070072"/>
                  </a:ext>
                </a:extLst>
              </a:tr>
              <a:tr h="759562">
                <a:tc>
                  <a:txBody>
                    <a:bodyPr/>
                    <a:lstStyle/>
                    <a:p>
                      <a:r>
                        <a:rPr lang="en-US" dirty="0"/>
                        <a:t>% of people drink alcohol</a:t>
                      </a:r>
                    </a:p>
                  </a:txBody>
                  <a:tcPr/>
                </a:tc>
                <a:tc>
                  <a:txBody>
                    <a:bodyPr/>
                    <a:lstStyle/>
                    <a:p>
                      <a:r>
                        <a:rPr lang="en-US" dirty="0"/>
                        <a:t>??</a:t>
                      </a:r>
                    </a:p>
                  </a:txBody>
                  <a:tcPr/>
                </a:tc>
                <a:extLst>
                  <a:ext uri="{0D108BD9-81ED-4DB2-BD59-A6C34878D82A}">
                    <a16:rowId xmlns:a16="http://schemas.microsoft.com/office/drawing/2014/main" val="209369135"/>
                  </a:ext>
                </a:extLst>
              </a:tr>
              <a:tr h="759562">
                <a:tc>
                  <a:txBody>
                    <a:bodyPr/>
                    <a:lstStyle/>
                    <a:p>
                      <a:r>
                        <a:rPr lang="en-US" dirty="0"/>
                        <a:t>% of women in the sample</a:t>
                      </a:r>
                    </a:p>
                  </a:txBody>
                  <a:tcPr/>
                </a:tc>
                <a:tc>
                  <a:txBody>
                    <a:bodyPr/>
                    <a:lstStyle/>
                    <a:p>
                      <a:r>
                        <a:rPr lang="en-US" dirty="0"/>
                        <a:t>??</a:t>
                      </a:r>
                    </a:p>
                  </a:txBody>
                  <a:tcPr/>
                </a:tc>
                <a:extLst>
                  <a:ext uri="{0D108BD9-81ED-4DB2-BD59-A6C34878D82A}">
                    <a16:rowId xmlns:a16="http://schemas.microsoft.com/office/drawing/2014/main" val="1934072396"/>
                  </a:ext>
                </a:extLst>
              </a:tr>
              <a:tr h="759562">
                <a:tc>
                  <a:txBody>
                    <a:bodyPr/>
                    <a:lstStyle/>
                    <a:p>
                      <a:r>
                        <a:rPr lang="en-US" dirty="0"/>
                        <a:t>Highest educational level- </a:t>
                      </a:r>
                    </a:p>
                  </a:txBody>
                  <a:tcPr/>
                </a:tc>
                <a:tc>
                  <a:txBody>
                    <a:bodyPr/>
                    <a:lstStyle/>
                    <a:p>
                      <a:r>
                        <a:rPr lang="en-US" dirty="0"/>
                        <a:t>??</a:t>
                      </a:r>
                    </a:p>
                  </a:txBody>
                  <a:tcPr/>
                </a:tc>
                <a:extLst>
                  <a:ext uri="{0D108BD9-81ED-4DB2-BD59-A6C34878D82A}">
                    <a16:rowId xmlns:a16="http://schemas.microsoft.com/office/drawing/2014/main" val="2908819290"/>
                  </a:ext>
                </a:extLst>
              </a:tr>
              <a:tr h="440064">
                <a:tc>
                  <a:txBody>
                    <a:bodyPr/>
                    <a:lstStyle/>
                    <a:p>
                      <a:r>
                        <a:rPr lang="en-US" dirty="0"/>
                        <a:t>Divorced</a:t>
                      </a:r>
                    </a:p>
                  </a:txBody>
                  <a:tcPr/>
                </a:tc>
                <a:tc>
                  <a:txBody>
                    <a:bodyPr/>
                    <a:lstStyle/>
                    <a:p>
                      <a:r>
                        <a:rPr lang="en-US" dirty="0"/>
                        <a:t>??</a:t>
                      </a:r>
                    </a:p>
                  </a:txBody>
                  <a:tcPr/>
                </a:tc>
                <a:extLst>
                  <a:ext uri="{0D108BD9-81ED-4DB2-BD59-A6C34878D82A}">
                    <a16:rowId xmlns:a16="http://schemas.microsoft.com/office/drawing/2014/main" val="3684562318"/>
                  </a:ext>
                </a:extLst>
              </a:tr>
              <a:tr h="440064">
                <a:tc>
                  <a:txBody>
                    <a:bodyPr/>
                    <a:lstStyle/>
                    <a:p>
                      <a:r>
                        <a:rPr lang="en-US" dirty="0"/>
                        <a:t>Separated</a:t>
                      </a:r>
                    </a:p>
                  </a:txBody>
                  <a:tcPr/>
                </a:tc>
                <a:tc>
                  <a:txBody>
                    <a:bodyPr/>
                    <a:lstStyle/>
                    <a:p>
                      <a:r>
                        <a:rPr lang="en-US" dirty="0"/>
                        <a:t>??</a:t>
                      </a:r>
                    </a:p>
                  </a:txBody>
                  <a:tcPr/>
                </a:tc>
                <a:extLst>
                  <a:ext uri="{0D108BD9-81ED-4DB2-BD59-A6C34878D82A}">
                    <a16:rowId xmlns:a16="http://schemas.microsoft.com/office/drawing/2014/main" val="1724601486"/>
                  </a:ext>
                </a:extLst>
              </a:tr>
            </a:tbl>
          </a:graphicData>
        </a:graphic>
      </p:graphicFrame>
      <p:sp>
        <p:nvSpPr>
          <p:cNvPr id="8" name="TextBox 7">
            <a:extLst>
              <a:ext uri="{FF2B5EF4-FFF2-40B4-BE49-F238E27FC236}">
                <a16:creationId xmlns:a16="http://schemas.microsoft.com/office/drawing/2014/main" id="{513DC86F-8428-6032-7065-33D57AD9F72C}"/>
              </a:ext>
            </a:extLst>
          </p:cNvPr>
          <p:cNvSpPr txBox="1"/>
          <p:nvPr/>
        </p:nvSpPr>
        <p:spPr>
          <a:xfrm>
            <a:off x="1497639" y="5735653"/>
            <a:ext cx="6672649" cy="369332"/>
          </a:xfrm>
          <a:prstGeom prst="rect">
            <a:avLst/>
          </a:prstGeom>
          <a:noFill/>
        </p:spPr>
        <p:txBody>
          <a:bodyPr wrap="square" rtlCol="0">
            <a:spAutoFit/>
          </a:bodyPr>
          <a:lstStyle/>
          <a:p>
            <a:r>
              <a:rPr lang="en-US" dirty="0"/>
              <a:t>** Below the table, interpret the data</a:t>
            </a:r>
          </a:p>
        </p:txBody>
      </p:sp>
      <p:pic>
        <p:nvPicPr>
          <p:cNvPr id="9" name="Audio 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811251263"/>
      </p:ext>
    </p:extLst>
  </p:cSld>
  <p:clrMapOvr>
    <a:masterClrMapping/>
  </p:clrMapOvr>
  <mc:AlternateContent xmlns:mc="http://schemas.openxmlformats.org/markup-compatibility/2006" xmlns:p14="http://schemas.microsoft.com/office/powerpoint/2010/main">
    <mc:Choice Requires="p14">
      <p:transition spd="slow" p14:dur="2000" advTm="5305"/>
    </mc:Choice>
    <mc:Fallback xmlns="">
      <p:transition spd="slow" advTm="5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0" i="0" u="none" strike="noStrike" dirty="0" smtClean="0">
                <a:solidFill>
                  <a:srgbClr val="373A3C"/>
                </a:solidFill>
                <a:effectLst/>
                <a:latin typeface="arial" panose="020B0604020202020204" pitchFamily="34" charset="0"/>
              </a:rPr>
              <a:t>Descriptive Statistics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48925196"/>
              </p:ext>
            </p:extLst>
          </p:nvPr>
        </p:nvGraphicFramePr>
        <p:xfrm>
          <a:off x="838198" y="1825625"/>
          <a:ext cx="10908324" cy="4895387"/>
        </p:xfrm>
        <a:graphic>
          <a:graphicData uri="http://schemas.openxmlformats.org/drawingml/2006/table">
            <a:tbl>
              <a:tblPr firstRow="1" bandRow="1">
                <a:tableStyleId>{5C22544A-7EE6-4342-B048-85BDC9FD1C3A}</a:tableStyleId>
              </a:tblPr>
              <a:tblGrid>
                <a:gridCol w="3636108">
                  <a:extLst>
                    <a:ext uri="{9D8B030D-6E8A-4147-A177-3AD203B41FA5}">
                      <a16:colId xmlns:a16="http://schemas.microsoft.com/office/drawing/2014/main" val="2721810598"/>
                    </a:ext>
                  </a:extLst>
                </a:gridCol>
                <a:gridCol w="3636108">
                  <a:extLst>
                    <a:ext uri="{9D8B030D-6E8A-4147-A177-3AD203B41FA5}">
                      <a16:colId xmlns:a16="http://schemas.microsoft.com/office/drawing/2014/main" val="2230410398"/>
                    </a:ext>
                  </a:extLst>
                </a:gridCol>
                <a:gridCol w="3636108">
                  <a:extLst>
                    <a:ext uri="{9D8B030D-6E8A-4147-A177-3AD203B41FA5}">
                      <a16:colId xmlns:a16="http://schemas.microsoft.com/office/drawing/2014/main" val="1596456076"/>
                    </a:ext>
                  </a:extLst>
                </a:gridCol>
              </a:tblGrid>
              <a:tr h="395017">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47606715"/>
                  </a:ext>
                </a:extLst>
              </a:tr>
              <a:tr h="9740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smtClean="0">
                          <a:solidFill>
                            <a:srgbClr val="373A3C"/>
                          </a:solidFill>
                          <a:effectLst/>
                          <a:latin typeface="arial" panose="020B0604020202020204" pitchFamily="34" charset="0"/>
                        </a:rPr>
                        <a:t>a. How many people are included in the sample? </a:t>
                      </a:r>
                    </a:p>
                    <a:p>
                      <a:endParaRPr lang="en-US" dirty="0"/>
                    </a:p>
                  </a:txBody>
                  <a:tcPr/>
                </a:tc>
                <a:tc>
                  <a:txBody>
                    <a:bodyPr/>
                    <a:lstStyle/>
                    <a:p>
                      <a:r>
                        <a:rPr lang="en-GB" dirty="0" smtClean="0"/>
                        <a:t>Total</a:t>
                      </a:r>
                      <a:r>
                        <a:rPr lang="en-GB" baseline="0" dirty="0" smtClean="0"/>
                        <a:t> Sample</a:t>
                      </a:r>
                      <a:endParaRPr lang="en-US" dirty="0"/>
                    </a:p>
                  </a:txBody>
                  <a:tcPr/>
                </a:tc>
                <a:tc>
                  <a:txBody>
                    <a:bodyPr/>
                    <a:lstStyle/>
                    <a:p>
                      <a:r>
                        <a:rPr lang="en-GB" dirty="0" smtClean="0"/>
                        <a:t>10617</a:t>
                      </a:r>
                      <a:endParaRPr lang="en-US" dirty="0"/>
                    </a:p>
                  </a:txBody>
                  <a:tcPr/>
                </a:tc>
                <a:extLst>
                  <a:ext uri="{0D108BD9-81ED-4DB2-BD59-A6C34878D82A}">
                    <a16:rowId xmlns:a16="http://schemas.microsoft.com/office/drawing/2014/main" val="4085162278"/>
                  </a:ext>
                </a:extLst>
              </a:tr>
              <a:tr h="681810">
                <a:tc>
                  <a:txBody>
                    <a:bodyPr/>
                    <a:lstStyle/>
                    <a:p>
                      <a:r>
                        <a:rPr lang="en-GB" b="0" i="0" u="none" strike="noStrike" dirty="0" smtClean="0">
                          <a:solidFill>
                            <a:srgbClr val="373A3C"/>
                          </a:solidFill>
                          <a:effectLst/>
                          <a:latin typeface="arial" panose="020B0604020202020204" pitchFamily="34" charset="0"/>
                        </a:rPr>
                        <a:t>b. What is the percentage of people who drink alcohol?</a:t>
                      </a:r>
                      <a:endParaRPr lang="en-US" dirty="0"/>
                    </a:p>
                  </a:txBody>
                  <a:tcPr/>
                </a:tc>
                <a:tc>
                  <a:txBody>
                    <a:bodyPr/>
                    <a:lstStyle/>
                    <a:p>
                      <a:r>
                        <a:rPr lang="en-US" dirty="0" smtClean="0"/>
                        <a:t>% of people drink alcohol</a:t>
                      </a:r>
                    </a:p>
                    <a:p>
                      <a:endParaRPr lang="en-US" dirty="0"/>
                    </a:p>
                  </a:txBody>
                  <a:tcPr/>
                </a:tc>
                <a:tc>
                  <a:txBody>
                    <a:bodyPr/>
                    <a:lstStyle/>
                    <a:p>
                      <a:r>
                        <a:rPr lang="en-GB" dirty="0" smtClean="0"/>
                        <a:t> 63.2%</a:t>
                      </a:r>
                      <a:endParaRPr lang="en-US" dirty="0"/>
                    </a:p>
                  </a:txBody>
                  <a:tcPr/>
                </a:tc>
                <a:extLst>
                  <a:ext uri="{0D108BD9-81ED-4DB2-BD59-A6C34878D82A}">
                    <a16:rowId xmlns:a16="http://schemas.microsoft.com/office/drawing/2014/main" val="188413320"/>
                  </a:ext>
                </a:extLst>
              </a:tr>
              <a:tr h="9740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smtClean="0">
                          <a:solidFill>
                            <a:srgbClr val="373A3C"/>
                          </a:solidFill>
                          <a:effectLst/>
                          <a:latin typeface="arial" panose="020B0604020202020204" pitchFamily="34" charset="0"/>
                        </a:rPr>
                        <a:t>c. What is the percentage of women in the sample?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of women in the sample</a:t>
                      </a:r>
                    </a:p>
                    <a:p>
                      <a:endParaRPr lang="en-US" dirty="0"/>
                    </a:p>
                  </a:txBody>
                  <a:tcPr/>
                </a:tc>
                <a:tc>
                  <a:txBody>
                    <a:bodyPr/>
                    <a:lstStyle/>
                    <a:p>
                      <a:r>
                        <a:rPr lang="en-GB" dirty="0" smtClean="0"/>
                        <a:t>54.3%</a:t>
                      </a:r>
                      <a:endParaRPr lang="en-US" dirty="0"/>
                    </a:p>
                  </a:txBody>
                  <a:tcPr/>
                </a:tc>
                <a:extLst>
                  <a:ext uri="{0D108BD9-81ED-4DB2-BD59-A6C34878D82A}">
                    <a16:rowId xmlns:a16="http://schemas.microsoft.com/office/drawing/2014/main" val="2902236556"/>
                  </a:ext>
                </a:extLst>
              </a:tr>
              <a:tr h="681810">
                <a:tc>
                  <a:txBody>
                    <a:bodyPr/>
                    <a:lstStyle/>
                    <a:p>
                      <a:r>
                        <a:rPr lang="en-GB" b="0" i="0" u="none" strike="noStrike" dirty="0" smtClean="0">
                          <a:solidFill>
                            <a:srgbClr val="373A3C"/>
                          </a:solidFill>
                          <a:effectLst/>
                          <a:latin typeface="arial" panose="020B0604020202020204" pitchFamily="34" charset="0"/>
                        </a:rPr>
                        <a:t>d. What is the highest educational level?</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Highest educational level- </a:t>
                      </a:r>
                    </a:p>
                    <a:p>
                      <a:endParaRPr lang="en-US" dirty="0"/>
                    </a:p>
                  </a:txBody>
                  <a:tcPr/>
                </a:tc>
                <a:tc>
                  <a:txBody>
                    <a:bodyPr/>
                    <a:lstStyle/>
                    <a:p>
                      <a:r>
                        <a:rPr lang="en-GB" dirty="0" smtClean="0"/>
                        <a:t>NVQ4/NVQ5/Degree</a:t>
                      </a:r>
                      <a:endParaRPr lang="en-US" dirty="0"/>
                    </a:p>
                  </a:txBody>
                  <a:tcPr/>
                </a:tc>
                <a:extLst>
                  <a:ext uri="{0D108BD9-81ED-4DB2-BD59-A6C34878D82A}">
                    <a16:rowId xmlns:a16="http://schemas.microsoft.com/office/drawing/2014/main" val="1997622085"/>
                  </a:ext>
                </a:extLst>
              </a:tr>
              <a:tr h="9740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smtClean="0">
                          <a:solidFill>
                            <a:srgbClr val="373A3C"/>
                          </a:solidFill>
                          <a:effectLst/>
                          <a:latin typeface="arial" panose="020B0604020202020204" pitchFamily="34" charset="0"/>
                        </a:rPr>
                        <a:t>e. What is percentage of divorced and separated people?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Divorced</a:t>
                      </a:r>
                    </a:p>
                    <a:p>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Separated</a:t>
                      </a:r>
                    </a:p>
                    <a:p>
                      <a:endParaRPr lang="en-US" dirty="0"/>
                    </a:p>
                  </a:txBody>
                  <a:tcPr/>
                </a:tc>
                <a:tc>
                  <a:txBody>
                    <a:bodyPr/>
                    <a:lstStyle/>
                    <a:p>
                      <a:r>
                        <a:rPr lang="en-GB" dirty="0" smtClean="0"/>
                        <a:t>5.6%</a:t>
                      </a:r>
                    </a:p>
                    <a:p>
                      <a:endParaRPr lang="en-GB" dirty="0" smtClean="0"/>
                    </a:p>
                    <a:p>
                      <a:r>
                        <a:rPr lang="en-GB" dirty="0" smtClean="0"/>
                        <a:t>2%</a:t>
                      </a:r>
                      <a:endParaRPr lang="en-US" dirty="0"/>
                    </a:p>
                  </a:txBody>
                  <a:tcPr/>
                </a:tc>
                <a:extLst>
                  <a:ext uri="{0D108BD9-81ED-4DB2-BD59-A6C34878D82A}">
                    <a16:rowId xmlns:a16="http://schemas.microsoft.com/office/drawing/2014/main" val="3943688323"/>
                  </a:ext>
                </a:extLst>
              </a:tr>
            </a:tbl>
          </a:graphicData>
        </a:graphic>
      </p:graphicFrame>
    </p:spTree>
    <p:extLst>
      <p:ext uri="{BB962C8B-B14F-4D97-AF65-F5344CB8AC3E}">
        <p14:creationId xmlns:p14="http://schemas.microsoft.com/office/powerpoint/2010/main" val="41796706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646" y="294786"/>
            <a:ext cx="11230708" cy="1325563"/>
          </a:xfrm>
        </p:spPr>
        <p:txBody>
          <a:bodyPr>
            <a:normAutofit fontScale="90000"/>
          </a:bodyPr>
          <a:lstStyle/>
          <a:p>
            <a:r>
              <a:rPr lang="en-US" sz="3100" b="0" i="0" u="none" strike="noStrike" dirty="0" smtClean="0">
                <a:solidFill>
                  <a:srgbClr val="373A3C"/>
                </a:solidFill>
                <a:effectLst/>
                <a:latin typeface="arial" panose="020B0604020202020204" pitchFamily="34" charset="0"/>
              </a:rPr>
              <a:t>Find the mean, median, mode, minimum, maximum, range and standard deviation of household size, BMI and age at last birthday</a:t>
            </a:r>
            <a:endParaRPr lang="en-US" b="0" i="0" u="none" strike="noStrike" dirty="0" smtClean="0">
              <a:solidFill>
                <a:srgbClr val="373A3C"/>
              </a:solidFill>
              <a:effectLst/>
              <a:latin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48769947"/>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186009781"/>
                    </a:ext>
                  </a:extLst>
                </a:gridCol>
                <a:gridCol w="2628900">
                  <a:extLst>
                    <a:ext uri="{9D8B030D-6E8A-4147-A177-3AD203B41FA5}">
                      <a16:colId xmlns:a16="http://schemas.microsoft.com/office/drawing/2014/main" val="1885426834"/>
                    </a:ext>
                  </a:extLst>
                </a:gridCol>
                <a:gridCol w="2628900">
                  <a:extLst>
                    <a:ext uri="{9D8B030D-6E8A-4147-A177-3AD203B41FA5}">
                      <a16:colId xmlns:a16="http://schemas.microsoft.com/office/drawing/2014/main" val="1946888909"/>
                    </a:ext>
                  </a:extLst>
                </a:gridCol>
                <a:gridCol w="2628900">
                  <a:extLst>
                    <a:ext uri="{9D8B030D-6E8A-4147-A177-3AD203B41FA5}">
                      <a16:colId xmlns:a16="http://schemas.microsoft.com/office/drawing/2014/main" val="197702977"/>
                    </a:ext>
                  </a:extLst>
                </a:gridCol>
              </a:tblGrid>
              <a:tr h="370840">
                <a:tc>
                  <a:txBody>
                    <a:bodyPr/>
                    <a:lstStyle/>
                    <a:p>
                      <a:endParaRPr lang="en-US" dirty="0"/>
                    </a:p>
                  </a:txBody>
                  <a:tcPr/>
                </a:tc>
                <a:tc>
                  <a:txBody>
                    <a:bodyPr/>
                    <a:lstStyle/>
                    <a:p>
                      <a:r>
                        <a:rPr lang="en-GB" dirty="0" smtClean="0"/>
                        <a:t>Household</a:t>
                      </a:r>
                      <a:r>
                        <a:rPr lang="en-GB" baseline="0" dirty="0" smtClean="0"/>
                        <a:t> size</a:t>
                      </a:r>
                      <a:endParaRPr lang="en-US" dirty="0"/>
                    </a:p>
                  </a:txBody>
                  <a:tcPr/>
                </a:tc>
                <a:tc>
                  <a:txBody>
                    <a:bodyPr/>
                    <a:lstStyle/>
                    <a:p>
                      <a:r>
                        <a:rPr lang="en-GB" dirty="0" smtClean="0"/>
                        <a:t> BMI</a:t>
                      </a:r>
                      <a:endParaRPr lang="en-US" dirty="0"/>
                    </a:p>
                  </a:txBody>
                  <a:tcPr/>
                </a:tc>
                <a:tc>
                  <a:txBody>
                    <a:bodyPr/>
                    <a:lstStyle/>
                    <a:p>
                      <a:r>
                        <a:rPr lang="en-GB" dirty="0" smtClean="0"/>
                        <a:t>Age at last birthday</a:t>
                      </a:r>
                      <a:endParaRPr lang="en-US" dirty="0"/>
                    </a:p>
                  </a:txBody>
                  <a:tcPr/>
                </a:tc>
                <a:extLst>
                  <a:ext uri="{0D108BD9-81ED-4DB2-BD59-A6C34878D82A}">
                    <a16:rowId xmlns:a16="http://schemas.microsoft.com/office/drawing/2014/main" val="2668178756"/>
                  </a:ext>
                </a:extLst>
              </a:tr>
              <a:tr h="370840">
                <a:tc>
                  <a:txBody>
                    <a:bodyPr/>
                    <a:lstStyle/>
                    <a:p>
                      <a:r>
                        <a:rPr lang="en-GB" dirty="0" smtClean="0"/>
                        <a:t>Mean</a:t>
                      </a:r>
                      <a:endParaRPr lang="en-US" dirty="0"/>
                    </a:p>
                  </a:txBody>
                  <a:tcPr/>
                </a:tc>
                <a:tc>
                  <a:txBody>
                    <a:bodyPr/>
                    <a:lstStyle/>
                    <a:p>
                      <a:r>
                        <a:rPr lang="en-GB" dirty="0" smtClean="0"/>
                        <a:t>2.9</a:t>
                      </a:r>
                      <a:endParaRPr lang="en-US" dirty="0"/>
                    </a:p>
                  </a:txBody>
                  <a:tcPr/>
                </a:tc>
                <a:tc>
                  <a:txBody>
                    <a:bodyPr/>
                    <a:lstStyle/>
                    <a:p>
                      <a:r>
                        <a:rPr lang="en-GB" dirty="0" smtClean="0"/>
                        <a:t>25</a:t>
                      </a:r>
                      <a:endParaRPr lang="en-US" dirty="0"/>
                    </a:p>
                  </a:txBody>
                  <a:tcPr/>
                </a:tc>
                <a:tc>
                  <a:txBody>
                    <a:bodyPr/>
                    <a:lstStyle/>
                    <a:p>
                      <a:r>
                        <a:rPr lang="en-GB" dirty="0" smtClean="0"/>
                        <a:t>41.6</a:t>
                      </a:r>
                      <a:endParaRPr lang="en-US" dirty="0"/>
                    </a:p>
                  </a:txBody>
                  <a:tcPr/>
                </a:tc>
                <a:extLst>
                  <a:ext uri="{0D108BD9-81ED-4DB2-BD59-A6C34878D82A}">
                    <a16:rowId xmlns:a16="http://schemas.microsoft.com/office/drawing/2014/main" val="3758281782"/>
                  </a:ext>
                </a:extLst>
              </a:tr>
              <a:tr h="370840">
                <a:tc>
                  <a:txBody>
                    <a:bodyPr/>
                    <a:lstStyle/>
                    <a:p>
                      <a:r>
                        <a:rPr lang="en-GB" dirty="0" smtClean="0"/>
                        <a:t>Median</a:t>
                      </a:r>
                      <a:endParaRPr lang="en-US" dirty="0"/>
                    </a:p>
                  </a:txBody>
                  <a:tcPr/>
                </a:tc>
                <a:tc>
                  <a:txBody>
                    <a:bodyPr/>
                    <a:lstStyle/>
                    <a:p>
                      <a:r>
                        <a:rPr lang="en-GB" dirty="0" smtClean="0"/>
                        <a:t>3</a:t>
                      </a:r>
                      <a:endParaRPr lang="en-US" dirty="0"/>
                    </a:p>
                  </a:txBody>
                  <a:tcPr/>
                </a:tc>
                <a:tc>
                  <a:txBody>
                    <a:bodyPr/>
                    <a:lstStyle/>
                    <a:p>
                      <a:r>
                        <a:rPr lang="en-GB" dirty="0" smtClean="0"/>
                        <a:t>25.6</a:t>
                      </a:r>
                      <a:endParaRPr lang="en-US" dirty="0"/>
                    </a:p>
                  </a:txBody>
                  <a:tcPr/>
                </a:tc>
                <a:tc>
                  <a:txBody>
                    <a:bodyPr/>
                    <a:lstStyle/>
                    <a:p>
                      <a:r>
                        <a:rPr lang="en-GB" dirty="0" smtClean="0"/>
                        <a:t>42</a:t>
                      </a:r>
                      <a:endParaRPr lang="en-US" dirty="0"/>
                    </a:p>
                  </a:txBody>
                  <a:tcPr/>
                </a:tc>
                <a:extLst>
                  <a:ext uri="{0D108BD9-81ED-4DB2-BD59-A6C34878D82A}">
                    <a16:rowId xmlns:a16="http://schemas.microsoft.com/office/drawing/2014/main" val="511216860"/>
                  </a:ext>
                </a:extLst>
              </a:tr>
              <a:tr h="370840">
                <a:tc>
                  <a:txBody>
                    <a:bodyPr/>
                    <a:lstStyle/>
                    <a:p>
                      <a:r>
                        <a:rPr lang="en-GB" dirty="0" smtClean="0"/>
                        <a:t>Mode</a:t>
                      </a:r>
                      <a:endParaRPr lang="en-US" dirty="0"/>
                    </a:p>
                  </a:txBody>
                  <a:tcPr/>
                </a:tc>
                <a:tc>
                  <a:txBody>
                    <a:bodyPr/>
                    <a:lstStyle/>
                    <a:p>
                      <a:r>
                        <a:rPr lang="en-GB" dirty="0" smtClean="0"/>
                        <a:t>3</a:t>
                      </a:r>
                      <a:endParaRPr lang="en-US" dirty="0"/>
                    </a:p>
                  </a:txBody>
                  <a:tcPr/>
                </a:tc>
                <a:tc>
                  <a:txBody>
                    <a:bodyPr/>
                    <a:lstStyle/>
                    <a:p>
                      <a:r>
                        <a:rPr lang="en-GB" dirty="0" smtClean="0"/>
                        <a:t>21</a:t>
                      </a:r>
                      <a:endParaRPr lang="en-US" dirty="0"/>
                    </a:p>
                  </a:txBody>
                  <a:tcPr/>
                </a:tc>
                <a:tc>
                  <a:txBody>
                    <a:bodyPr/>
                    <a:lstStyle/>
                    <a:p>
                      <a:r>
                        <a:rPr lang="en-GB" dirty="0" smtClean="0"/>
                        <a:t>3</a:t>
                      </a:r>
                      <a:endParaRPr lang="en-US" dirty="0"/>
                    </a:p>
                  </a:txBody>
                  <a:tcPr/>
                </a:tc>
                <a:extLst>
                  <a:ext uri="{0D108BD9-81ED-4DB2-BD59-A6C34878D82A}">
                    <a16:rowId xmlns:a16="http://schemas.microsoft.com/office/drawing/2014/main" val="1881374006"/>
                  </a:ext>
                </a:extLst>
              </a:tr>
              <a:tr h="370840">
                <a:tc>
                  <a:txBody>
                    <a:bodyPr/>
                    <a:lstStyle/>
                    <a:p>
                      <a:r>
                        <a:rPr lang="en-GB" dirty="0" smtClean="0"/>
                        <a:t>Minimum</a:t>
                      </a:r>
                      <a:endParaRPr lang="en-US" dirty="0"/>
                    </a:p>
                  </a:txBody>
                  <a:tcPr/>
                </a:tc>
                <a:tc>
                  <a:txBody>
                    <a:bodyPr/>
                    <a:lstStyle/>
                    <a:p>
                      <a:r>
                        <a:rPr lang="en-GB" dirty="0" smtClean="0"/>
                        <a:t>1</a:t>
                      </a:r>
                      <a:endParaRPr lang="en-US" dirty="0"/>
                    </a:p>
                  </a:txBody>
                  <a:tcPr/>
                </a:tc>
                <a:tc>
                  <a:txBody>
                    <a:bodyPr/>
                    <a:lstStyle/>
                    <a:p>
                      <a:r>
                        <a:rPr lang="en-GB" dirty="0" smtClean="0"/>
                        <a:t>8.3</a:t>
                      </a:r>
                      <a:endParaRPr lang="en-US" dirty="0"/>
                    </a:p>
                  </a:txBody>
                  <a:tcPr/>
                </a:tc>
                <a:tc>
                  <a:txBody>
                    <a:bodyPr/>
                    <a:lstStyle/>
                    <a:p>
                      <a:r>
                        <a:rPr lang="en-GB" dirty="0" smtClean="0"/>
                        <a:t>0</a:t>
                      </a:r>
                      <a:endParaRPr lang="en-US" dirty="0"/>
                    </a:p>
                  </a:txBody>
                  <a:tcPr/>
                </a:tc>
                <a:extLst>
                  <a:ext uri="{0D108BD9-81ED-4DB2-BD59-A6C34878D82A}">
                    <a16:rowId xmlns:a16="http://schemas.microsoft.com/office/drawing/2014/main" val="4153882122"/>
                  </a:ext>
                </a:extLst>
              </a:tr>
              <a:tr h="370840">
                <a:tc>
                  <a:txBody>
                    <a:bodyPr/>
                    <a:lstStyle/>
                    <a:p>
                      <a:r>
                        <a:rPr lang="en-GB" dirty="0" smtClean="0"/>
                        <a:t>Maximum</a:t>
                      </a:r>
                      <a:endParaRPr lang="en-US" dirty="0"/>
                    </a:p>
                  </a:txBody>
                  <a:tcPr/>
                </a:tc>
                <a:tc>
                  <a:txBody>
                    <a:bodyPr/>
                    <a:lstStyle/>
                    <a:p>
                      <a:r>
                        <a:rPr lang="en-GB" dirty="0" smtClean="0"/>
                        <a:t>10</a:t>
                      </a:r>
                      <a:endParaRPr lang="en-US" dirty="0"/>
                    </a:p>
                  </a:txBody>
                  <a:tcPr/>
                </a:tc>
                <a:tc>
                  <a:txBody>
                    <a:bodyPr/>
                    <a:lstStyle/>
                    <a:p>
                      <a:r>
                        <a:rPr lang="en-GB" dirty="0" smtClean="0"/>
                        <a:t>65.3</a:t>
                      </a:r>
                      <a:endParaRPr lang="en-US" dirty="0"/>
                    </a:p>
                  </a:txBody>
                  <a:tcPr/>
                </a:tc>
                <a:tc>
                  <a:txBody>
                    <a:bodyPr/>
                    <a:lstStyle/>
                    <a:p>
                      <a:r>
                        <a:rPr lang="en-GB" dirty="0" smtClean="0"/>
                        <a:t>100</a:t>
                      </a:r>
                      <a:endParaRPr lang="en-US" dirty="0"/>
                    </a:p>
                  </a:txBody>
                  <a:tcPr/>
                </a:tc>
                <a:extLst>
                  <a:ext uri="{0D108BD9-81ED-4DB2-BD59-A6C34878D82A}">
                    <a16:rowId xmlns:a16="http://schemas.microsoft.com/office/drawing/2014/main" val="1855581427"/>
                  </a:ext>
                </a:extLst>
              </a:tr>
              <a:tr h="370840">
                <a:tc>
                  <a:txBody>
                    <a:bodyPr/>
                    <a:lstStyle/>
                    <a:p>
                      <a:r>
                        <a:rPr lang="en-GB" dirty="0" smtClean="0"/>
                        <a:t>Range</a:t>
                      </a:r>
                      <a:endParaRPr lang="en-US" dirty="0"/>
                    </a:p>
                  </a:txBody>
                  <a:tcPr/>
                </a:tc>
                <a:tc>
                  <a:txBody>
                    <a:bodyPr/>
                    <a:lstStyle/>
                    <a:p>
                      <a:r>
                        <a:rPr lang="en-GB" dirty="0" smtClean="0"/>
                        <a:t>9</a:t>
                      </a:r>
                      <a:endParaRPr lang="en-US" dirty="0"/>
                    </a:p>
                  </a:txBody>
                  <a:tcPr/>
                </a:tc>
                <a:tc>
                  <a:txBody>
                    <a:bodyPr/>
                    <a:lstStyle/>
                    <a:p>
                      <a:r>
                        <a:rPr lang="en-GB" dirty="0" smtClean="0"/>
                        <a:t>56.9</a:t>
                      </a:r>
                      <a:endParaRPr lang="en-US" dirty="0"/>
                    </a:p>
                  </a:txBody>
                  <a:tcPr/>
                </a:tc>
                <a:tc>
                  <a:txBody>
                    <a:bodyPr/>
                    <a:lstStyle/>
                    <a:p>
                      <a:r>
                        <a:rPr lang="en-GB" dirty="0" smtClean="0"/>
                        <a:t>100</a:t>
                      </a:r>
                      <a:endParaRPr lang="en-US" dirty="0"/>
                    </a:p>
                  </a:txBody>
                  <a:tcPr/>
                </a:tc>
                <a:extLst>
                  <a:ext uri="{0D108BD9-81ED-4DB2-BD59-A6C34878D82A}">
                    <a16:rowId xmlns:a16="http://schemas.microsoft.com/office/drawing/2014/main" val="2336304401"/>
                  </a:ext>
                </a:extLst>
              </a:tr>
              <a:tr h="370840">
                <a:tc>
                  <a:txBody>
                    <a:bodyPr/>
                    <a:lstStyle/>
                    <a:p>
                      <a:r>
                        <a:rPr lang="en-GB" dirty="0" smtClean="0"/>
                        <a:t>Standard deviation</a:t>
                      </a:r>
                      <a:endParaRPr lang="en-US" dirty="0"/>
                    </a:p>
                  </a:txBody>
                  <a:tcPr/>
                </a:tc>
                <a:tc>
                  <a:txBody>
                    <a:bodyPr/>
                    <a:lstStyle/>
                    <a:p>
                      <a:r>
                        <a:rPr lang="en-GB" dirty="0" smtClean="0"/>
                        <a:t>1.4</a:t>
                      </a:r>
                      <a:endParaRPr lang="en-US" dirty="0"/>
                    </a:p>
                  </a:txBody>
                  <a:tcPr/>
                </a:tc>
                <a:tc>
                  <a:txBody>
                    <a:bodyPr/>
                    <a:lstStyle/>
                    <a:p>
                      <a:r>
                        <a:rPr lang="en-GB" dirty="0" smtClean="0"/>
                        <a:t>6.1</a:t>
                      </a:r>
                      <a:endParaRPr lang="en-US" dirty="0"/>
                    </a:p>
                  </a:txBody>
                  <a:tcPr/>
                </a:tc>
                <a:tc>
                  <a:txBody>
                    <a:bodyPr/>
                    <a:lstStyle/>
                    <a:p>
                      <a:r>
                        <a:rPr lang="en-GB" dirty="0" smtClean="0"/>
                        <a:t>23.8</a:t>
                      </a:r>
                      <a:endParaRPr lang="en-US" dirty="0"/>
                    </a:p>
                  </a:txBody>
                  <a:tcPr/>
                </a:tc>
                <a:extLst>
                  <a:ext uri="{0D108BD9-81ED-4DB2-BD59-A6C34878D82A}">
                    <a16:rowId xmlns:a16="http://schemas.microsoft.com/office/drawing/2014/main" val="4034465521"/>
                  </a:ext>
                </a:extLst>
              </a:tr>
            </a:tbl>
          </a:graphicData>
        </a:graphic>
      </p:graphicFrame>
    </p:spTree>
    <p:extLst>
      <p:ext uri="{BB962C8B-B14F-4D97-AF65-F5344CB8AC3E}">
        <p14:creationId xmlns:p14="http://schemas.microsoft.com/office/powerpoint/2010/main" val="52621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5406"/>
          </a:xfrm>
        </p:spPr>
        <p:txBody>
          <a:bodyPr/>
          <a:lstStyle/>
          <a:p>
            <a:r>
              <a:rPr lang="en-GB" dirty="0">
                <a:solidFill>
                  <a:srgbClr val="373A3C"/>
                </a:solidFill>
                <a:latin typeface="arial" panose="020B0604020202020204" pitchFamily="34" charset="0"/>
              </a:rPr>
              <a:t>Inferential </a:t>
            </a:r>
            <a:r>
              <a:rPr lang="en-GB" dirty="0" smtClean="0">
                <a:solidFill>
                  <a:srgbClr val="373A3C"/>
                </a:solidFill>
                <a:latin typeface="arial" panose="020B0604020202020204" pitchFamily="34" charset="0"/>
              </a:rPr>
              <a:t>Statistics</a:t>
            </a:r>
            <a:endParaRPr lang="en-US" dirty="0">
              <a:solidFill>
                <a:srgbClr val="373A3C"/>
              </a:solidFill>
              <a:latin typeface="arial" panose="020B0604020202020204" pitchFamily="34" charset="0"/>
            </a:endParaRPr>
          </a:p>
        </p:txBody>
      </p:sp>
      <p:sp>
        <p:nvSpPr>
          <p:cNvPr id="5" name="Content Placeholder 4"/>
          <p:cNvSpPr>
            <a:spLocks noGrp="1"/>
          </p:cNvSpPr>
          <p:nvPr>
            <p:ph idx="1"/>
          </p:nvPr>
        </p:nvSpPr>
        <p:spPr>
          <a:xfrm>
            <a:off x="718822" y="2161310"/>
            <a:ext cx="10515600" cy="3358948"/>
          </a:xfrm>
        </p:spPr>
        <p:txBody>
          <a:bodyPr/>
          <a:lstStyle/>
          <a:p>
            <a:pPr marL="0" indent="0">
              <a:buNone/>
            </a:pPr>
            <a:endParaRPr lang="en-US" dirty="0" smtClean="0"/>
          </a:p>
          <a:p>
            <a:pPr marL="0" indent="0">
              <a:buNone/>
            </a:pPr>
            <a:r>
              <a:rPr lang="en-US" dirty="0" smtClean="0"/>
              <a:t>The </a:t>
            </a:r>
            <a:r>
              <a:rPr lang="en-US" dirty="0"/>
              <a:t>null hypothesis (H0) is that there is no difference in alcohol consumption between </a:t>
            </a:r>
            <a:r>
              <a:rPr lang="en-US" dirty="0" smtClean="0"/>
              <a:t>genders</a:t>
            </a:r>
          </a:p>
          <a:p>
            <a:pPr marL="0" indent="0">
              <a:buNone/>
            </a:pPr>
            <a:endParaRPr lang="en-US" dirty="0"/>
          </a:p>
          <a:p>
            <a:pPr marL="0" indent="0">
              <a:buNone/>
            </a:pPr>
            <a:r>
              <a:rPr lang="en-US" dirty="0" smtClean="0"/>
              <a:t> </a:t>
            </a:r>
            <a:r>
              <a:rPr lang="en-US" dirty="0"/>
              <a:t>The Alternative hypothesis (HA) is that there is difference in consumption between genders</a:t>
            </a:r>
          </a:p>
        </p:txBody>
      </p:sp>
      <p:sp>
        <p:nvSpPr>
          <p:cNvPr id="7" name="Rectangle 6"/>
          <p:cNvSpPr/>
          <p:nvPr/>
        </p:nvSpPr>
        <p:spPr>
          <a:xfrm>
            <a:off x="838200" y="1791978"/>
            <a:ext cx="7949739" cy="369332"/>
          </a:xfrm>
          <a:prstGeom prst="rect">
            <a:avLst/>
          </a:prstGeom>
        </p:spPr>
        <p:txBody>
          <a:bodyPr wrap="square">
            <a:spAutoFit/>
          </a:bodyPr>
          <a:lstStyle/>
          <a:p>
            <a:r>
              <a:rPr lang="en-US" dirty="0"/>
              <a:t>a. Run a significance test to find out which gender drinks more alcohol</a:t>
            </a:r>
          </a:p>
        </p:txBody>
      </p:sp>
    </p:spTree>
    <p:extLst>
      <p:ext uri="{BB962C8B-B14F-4D97-AF65-F5344CB8AC3E}">
        <p14:creationId xmlns:p14="http://schemas.microsoft.com/office/powerpoint/2010/main" val="259588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6141"/>
            <a:ext cx="10515600" cy="338260"/>
          </a:xfrm>
        </p:spPr>
        <p:txBody>
          <a:bodyPr>
            <a:normAutofit fontScale="90000"/>
          </a:bodyPr>
          <a:lstStyle/>
          <a:p>
            <a:r>
              <a:rPr lang="en-GB" sz="3600" b="0" i="0" u="none" strike="noStrike" dirty="0" smtClean="0">
                <a:solidFill>
                  <a:srgbClr val="373A3C"/>
                </a:solidFill>
                <a:effectLst/>
                <a:latin typeface="arial" panose="020B0604020202020204" pitchFamily="34" charset="0"/>
              </a:rPr>
              <a:t>Inferential Statistics cont.</a:t>
            </a:r>
            <a:r>
              <a:rPr lang="en-US" dirty="0" smtClean="0"/>
              <a:t/>
            </a:r>
            <a:br>
              <a:rPr lang="en-US"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86740926"/>
              </p:ext>
            </p:extLst>
          </p:nvPr>
        </p:nvGraphicFramePr>
        <p:xfrm>
          <a:off x="486508" y="2060543"/>
          <a:ext cx="10204939" cy="3512238"/>
        </p:xfrm>
        <a:graphic>
          <a:graphicData uri="http://schemas.openxmlformats.org/drawingml/2006/table">
            <a:tbl>
              <a:tblPr firstRow="1" bandRow="1">
                <a:tableStyleId>{5C22544A-7EE6-4342-B048-85BDC9FD1C3A}</a:tableStyleId>
              </a:tblPr>
              <a:tblGrid>
                <a:gridCol w="2551235">
                  <a:extLst>
                    <a:ext uri="{9D8B030D-6E8A-4147-A177-3AD203B41FA5}">
                      <a16:colId xmlns:a16="http://schemas.microsoft.com/office/drawing/2014/main" val="3582691336"/>
                    </a:ext>
                  </a:extLst>
                </a:gridCol>
                <a:gridCol w="2551235">
                  <a:extLst>
                    <a:ext uri="{9D8B030D-6E8A-4147-A177-3AD203B41FA5}">
                      <a16:colId xmlns:a16="http://schemas.microsoft.com/office/drawing/2014/main" val="3344862098"/>
                    </a:ext>
                  </a:extLst>
                </a:gridCol>
                <a:gridCol w="1780461">
                  <a:extLst>
                    <a:ext uri="{9D8B030D-6E8A-4147-A177-3AD203B41FA5}">
                      <a16:colId xmlns:a16="http://schemas.microsoft.com/office/drawing/2014/main" val="1028962423"/>
                    </a:ext>
                  </a:extLst>
                </a:gridCol>
                <a:gridCol w="3322008">
                  <a:extLst>
                    <a:ext uri="{9D8B030D-6E8A-4147-A177-3AD203B41FA5}">
                      <a16:colId xmlns:a16="http://schemas.microsoft.com/office/drawing/2014/main" val="1542313638"/>
                    </a:ext>
                  </a:extLst>
                </a:gridCol>
              </a:tblGrid>
              <a:tr h="965145">
                <a:tc>
                  <a:txBody>
                    <a:bodyPr/>
                    <a:lstStyle/>
                    <a:p>
                      <a:endParaRPr lang="en-US" dirty="0"/>
                    </a:p>
                  </a:txBody>
                  <a:tcPr/>
                </a:tc>
                <a:tc gridSpan="2">
                  <a:txBody>
                    <a:bodyPr/>
                    <a:lstStyle/>
                    <a:p>
                      <a:pPr algn="ctr"/>
                      <a:r>
                        <a:rPr lang="en-GB" sz="2400" dirty="0" smtClean="0"/>
                        <a:t>Drinking Status</a:t>
                      </a:r>
                      <a:endParaRPr lang="en-US" sz="2400" dirty="0"/>
                    </a:p>
                  </a:txBody>
                  <a:tcPr/>
                </a:tc>
                <a:tc h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t>Value of the test and p value</a:t>
                      </a:r>
                    </a:p>
                    <a:p>
                      <a:endParaRPr lang="en-US" dirty="0"/>
                    </a:p>
                  </a:txBody>
                  <a:tcPr/>
                </a:tc>
                <a:extLst>
                  <a:ext uri="{0D108BD9-81ED-4DB2-BD59-A6C34878D82A}">
                    <a16:rowId xmlns:a16="http://schemas.microsoft.com/office/drawing/2014/main" val="1530761146"/>
                  </a:ext>
                </a:extLst>
              </a:tr>
              <a:tr h="804986">
                <a:tc>
                  <a:txBody>
                    <a:bodyPr/>
                    <a:lstStyle/>
                    <a:p>
                      <a:r>
                        <a:rPr lang="en-GB" dirty="0" smtClean="0"/>
                        <a:t>Gender</a:t>
                      </a:r>
                      <a:endParaRPr lang="en-US" dirty="0"/>
                    </a:p>
                  </a:txBody>
                  <a:tcPr/>
                </a:tc>
                <a:tc>
                  <a:txBody>
                    <a:bodyPr/>
                    <a:lstStyle/>
                    <a:p>
                      <a:r>
                        <a:rPr lang="en-GB" sz="2400" b="1" dirty="0" smtClean="0"/>
                        <a:t>Yes</a:t>
                      </a:r>
                    </a:p>
                    <a:p>
                      <a:r>
                        <a:rPr lang="en-GB" sz="1600" b="1" dirty="0" smtClean="0"/>
                        <a:t>N (%)</a:t>
                      </a:r>
                      <a:endParaRPr lang="en-US" sz="1600" b="1" dirty="0"/>
                    </a:p>
                  </a:txBody>
                  <a:tcPr/>
                </a:tc>
                <a:tc>
                  <a:txBody>
                    <a:bodyPr/>
                    <a:lstStyle/>
                    <a:p>
                      <a:r>
                        <a:rPr lang="en-GB" sz="2400" b="1" dirty="0" smtClean="0"/>
                        <a:t>No</a:t>
                      </a:r>
                    </a:p>
                    <a:p>
                      <a:r>
                        <a:rPr lang="en-GB" sz="1600" b="1" dirty="0" smtClean="0"/>
                        <a:t>N (%)</a:t>
                      </a:r>
                      <a:endParaRPr lang="en-US" sz="1600" b="1" dirty="0"/>
                    </a:p>
                  </a:txBody>
                  <a:tcPr/>
                </a:tc>
                <a:tc rowSpan="3">
                  <a:txBody>
                    <a:bodyPr/>
                    <a:lstStyle/>
                    <a:p>
                      <a:endParaRPr lang="en-GB" sz="2400" dirty="0" smtClean="0"/>
                    </a:p>
                    <a:p>
                      <a:endParaRPr lang="en-GB" sz="2400" dirty="0" smtClean="0"/>
                    </a:p>
                    <a:p>
                      <a:r>
                        <a:rPr lang="en-GB" sz="2400" dirty="0" smtClean="0"/>
                        <a:t>Chi-square</a:t>
                      </a:r>
                      <a:r>
                        <a:rPr lang="en-GB" sz="2400" baseline="0" dirty="0" smtClean="0"/>
                        <a:t> = 114.15</a:t>
                      </a:r>
                    </a:p>
                    <a:p>
                      <a:endParaRPr lang="en-GB" sz="2400" baseline="0" dirty="0" smtClean="0"/>
                    </a:p>
                    <a:p>
                      <a:r>
                        <a:rPr lang="en-GB" sz="2400" baseline="0" dirty="0" smtClean="0"/>
                        <a:t>P-value = </a:t>
                      </a:r>
                      <a:r>
                        <a:rPr lang="en-US" sz="2400" dirty="0" smtClean="0"/>
                        <a:t>2.2e-16</a:t>
                      </a:r>
                      <a:endParaRPr lang="en-US" sz="2400" dirty="0"/>
                    </a:p>
                  </a:txBody>
                  <a:tcPr/>
                </a:tc>
                <a:extLst>
                  <a:ext uri="{0D108BD9-81ED-4DB2-BD59-A6C34878D82A}">
                    <a16:rowId xmlns:a16="http://schemas.microsoft.com/office/drawing/2014/main" val="3478390207"/>
                  </a:ext>
                </a:extLst>
              </a:tr>
              <a:tr h="804986">
                <a:tc>
                  <a:txBody>
                    <a:bodyPr/>
                    <a:lstStyle/>
                    <a:p>
                      <a:r>
                        <a:rPr lang="en-GB" b="1" dirty="0" smtClean="0"/>
                        <a:t>Male</a:t>
                      </a:r>
                      <a:endParaRPr lang="en-US" b="1" dirty="0"/>
                    </a:p>
                  </a:txBody>
                  <a:tcPr/>
                </a:tc>
                <a:tc>
                  <a:txBody>
                    <a:bodyPr/>
                    <a:lstStyle/>
                    <a:p>
                      <a:r>
                        <a:rPr lang="en-GB" dirty="0" smtClean="0"/>
                        <a:t>3172 (37.16%)</a:t>
                      </a:r>
                      <a:endParaRPr lang="en-US" dirty="0"/>
                    </a:p>
                  </a:txBody>
                  <a:tcPr/>
                </a:tc>
                <a:tc>
                  <a:txBody>
                    <a:bodyPr/>
                    <a:lstStyle/>
                    <a:p>
                      <a:r>
                        <a:rPr lang="en-GB" dirty="0" smtClean="0"/>
                        <a:t>605 (7.1%)</a:t>
                      </a:r>
                      <a:endParaRPr lang="en-US" dirty="0"/>
                    </a:p>
                  </a:txBody>
                  <a:tcPr/>
                </a:tc>
                <a:tc vMerge="1">
                  <a:txBody>
                    <a:bodyPr/>
                    <a:lstStyle/>
                    <a:p>
                      <a:endParaRPr lang="en-US" dirty="0"/>
                    </a:p>
                  </a:txBody>
                  <a:tcPr/>
                </a:tc>
                <a:extLst>
                  <a:ext uri="{0D108BD9-81ED-4DB2-BD59-A6C34878D82A}">
                    <a16:rowId xmlns:a16="http://schemas.microsoft.com/office/drawing/2014/main" val="565143500"/>
                  </a:ext>
                </a:extLst>
              </a:tr>
              <a:tr h="804986">
                <a:tc>
                  <a:txBody>
                    <a:bodyPr/>
                    <a:lstStyle/>
                    <a:p>
                      <a:r>
                        <a:rPr lang="en-GB" b="1" dirty="0" smtClean="0"/>
                        <a:t>Female</a:t>
                      </a:r>
                      <a:endParaRPr lang="en-US" b="1" dirty="0"/>
                    </a:p>
                  </a:txBody>
                  <a:tcPr/>
                </a:tc>
                <a:tc>
                  <a:txBody>
                    <a:bodyPr/>
                    <a:lstStyle/>
                    <a:p>
                      <a:r>
                        <a:rPr lang="en-GB" dirty="0" smtClean="0"/>
                        <a:t>3540(41.48%)</a:t>
                      </a:r>
                      <a:endParaRPr lang="en-US" dirty="0"/>
                    </a:p>
                  </a:txBody>
                  <a:tcPr/>
                </a:tc>
                <a:tc>
                  <a:txBody>
                    <a:bodyPr/>
                    <a:lstStyle/>
                    <a:p>
                      <a:r>
                        <a:rPr lang="en-GB" dirty="0" smtClean="0"/>
                        <a:t>1217 (14.26%)</a:t>
                      </a:r>
                      <a:endParaRPr lang="en-US" dirty="0"/>
                    </a:p>
                  </a:txBody>
                  <a:tcPr/>
                </a:tc>
                <a:tc vMerge="1">
                  <a:txBody>
                    <a:bodyPr/>
                    <a:lstStyle/>
                    <a:p>
                      <a:endParaRPr lang="en-US" dirty="0"/>
                    </a:p>
                  </a:txBody>
                  <a:tcPr/>
                </a:tc>
                <a:extLst>
                  <a:ext uri="{0D108BD9-81ED-4DB2-BD59-A6C34878D82A}">
                    <a16:rowId xmlns:a16="http://schemas.microsoft.com/office/drawing/2014/main" val="5636029"/>
                  </a:ext>
                </a:extLst>
              </a:tr>
            </a:tbl>
          </a:graphicData>
        </a:graphic>
      </p:graphicFrame>
      <p:sp>
        <p:nvSpPr>
          <p:cNvPr id="3" name="Rectangle 2"/>
          <p:cNvSpPr/>
          <p:nvPr/>
        </p:nvSpPr>
        <p:spPr>
          <a:xfrm>
            <a:off x="486508" y="5572781"/>
            <a:ext cx="10515600" cy="1015663"/>
          </a:xfrm>
          <a:prstGeom prst="rect">
            <a:avLst/>
          </a:prstGeom>
        </p:spPr>
        <p:txBody>
          <a:bodyPr wrap="square">
            <a:spAutoFit/>
          </a:bodyPr>
          <a:lstStyle/>
          <a:p>
            <a:r>
              <a:rPr lang="en-US" sz="2000" dirty="0" smtClean="0"/>
              <a:t> </a:t>
            </a:r>
            <a:r>
              <a:rPr lang="en-US" sz="2000" b="1" i="1" dirty="0" smtClean="0"/>
              <a:t>Based on the chi-square p-value (2.2e-16) which is less than 0.05, we reject the null hypothesis and conclude that there is a statistically significant difference in alcohol consumption between genders.</a:t>
            </a:r>
            <a:endParaRPr lang="en-US" sz="2000" b="1" i="1" dirty="0"/>
          </a:p>
        </p:txBody>
      </p:sp>
    </p:spTree>
    <p:extLst>
      <p:ext uri="{BB962C8B-B14F-4D97-AF65-F5344CB8AC3E}">
        <p14:creationId xmlns:p14="http://schemas.microsoft.com/office/powerpoint/2010/main" val="1122794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5406"/>
          </a:xfrm>
        </p:spPr>
        <p:txBody>
          <a:bodyPr/>
          <a:lstStyle/>
          <a:p>
            <a:r>
              <a:rPr lang="en-GB" dirty="0">
                <a:solidFill>
                  <a:srgbClr val="373A3C"/>
                </a:solidFill>
                <a:latin typeface="arial" panose="020B0604020202020204" pitchFamily="34" charset="0"/>
              </a:rPr>
              <a:t>Inferential </a:t>
            </a:r>
            <a:r>
              <a:rPr lang="en-GB" dirty="0" smtClean="0">
                <a:solidFill>
                  <a:srgbClr val="373A3C"/>
                </a:solidFill>
                <a:latin typeface="arial" panose="020B0604020202020204" pitchFamily="34" charset="0"/>
              </a:rPr>
              <a:t>Statistics</a:t>
            </a:r>
            <a:endParaRPr lang="en-US" dirty="0">
              <a:solidFill>
                <a:srgbClr val="373A3C"/>
              </a:solidFill>
              <a:latin typeface="arial" panose="020B0604020202020204" pitchFamily="34" charset="0"/>
            </a:endParaRPr>
          </a:p>
        </p:txBody>
      </p:sp>
      <p:sp>
        <p:nvSpPr>
          <p:cNvPr id="5" name="Content Placeholder 4"/>
          <p:cNvSpPr>
            <a:spLocks noGrp="1"/>
          </p:cNvSpPr>
          <p:nvPr>
            <p:ph idx="1"/>
          </p:nvPr>
        </p:nvSpPr>
        <p:spPr>
          <a:xfrm>
            <a:off x="718822" y="2161310"/>
            <a:ext cx="10515600" cy="3358948"/>
          </a:xfrm>
        </p:spPr>
        <p:txBody>
          <a:bodyPr/>
          <a:lstStyle/>
          <a:p>
            <a:pPr marL="0" indent="0">
              <a:buNone/>
            </a:pPr>
            <a:endParaRPr lang="en-US" dirty="0" smtClean="0"/>
          </a:p>
          <a:p>
            <a:pPr marL="0" indent="0">
              <a:buNone/>
            </a:pPr>
            <a:r>
              <a:rPr lang="en-US" dirty="0" smtClean="0"/>
              <a:t>The </a:t>
            </a:r>
            <a:r>
              <a:rPr lang="en-US" dirty="0"/>
              <a:t>null hypothesis (H0) is that there is no difference in alcohol consumption </a:t>
            </a:r>
            <a:r>
              <a:rPr lang="en-US" dirty="0" smtClean="0"/>
              <a:t>among regions</a:t>
            </a:r>
          </a:p>
          <a:p>
            <a:pPr marL="0" indent="0">
              <a:buNone/>
            </a:pPr>
            <a:endParaRPr lang="en-US" dirty="0"/>
          </a:p>
          <a:p>
            <a:pPr marL="0" indent="0">
              <a:buNone/>
            </a:pPr>
            <a:r>
              <a:rPr lang="en-US" dirty="0" smtClean="0"/>
              <a:t> </a:t>
            </a:r>
            <a:r>
              <a:rPr lang="en-US" dirty="0"/>
              <a:t>The Alternative hypothesis (HA) is that there is difference in consumption </a:t>
            </a:r>
            <a:r>
              <a:rPr lang="en-US" dirty="0" smtClean="0"/>
              <a:t>among regions</a:t>
            </a:r>
            <a:endParaRPr lang="en-US" dirty="0"/>
          </a:p>
        </p:txBody>
      </p:sp>
      <p:sp>
        <p:nvSpPr>
          <p:cNvPr id="7" name="Rectangle 6"/>
          <p:cNvSpPr/>
          <p:nvPr/>
        </p:nvSpPr>
        <p:spPr>
          <a:xfrm>
            <a:off x="838200" y="1791978"/>
            <a:ext cx="7949739" cy="369332"/>
          </a:xfrm>
          <a:prstGeom prst="rect">
            <a:avLst/>
          </a:prstGeom>
        </p:spPr>
        <p:txBody>
          <a:bodyPr wrap="square">
            <a:spAutoFit/>
          </a:bodyPr>
          <a:lstStyle/>
          <a:p>
            <a:r>
              <a:rPr lang="en-US" dirty="0" smtClean="0"/>
              <a:t>b</a:t>
            </a:r>
            <a:r>
              <a:rPr lang="en-US" dirty="0"/>
              <a:t>. Run a significance test to find out which region drinks the most alcohol</a:t>
            </a:r>
          </a:p>
        </p:txBody>
      </p:sp>
    </p:spTree>
    <p:extLst>
      <p:ext uri="{BB962C8B-B14F-4D97-AF65-F5344CB8AC3E}">
        <p14:creationId xmlns:p14="http://schemas.microsoft.com/office/powerpoint/2010/main" val="11749908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540280514"/>
              </p:ext>
            </p:extLst>
          </p:nvPr>
        </p:nvGraphicFramePr>
        <p:xfrm>
          <a:off x="989213" y="0"/>
          <a:ext cx="9375372" cy="6259470"/>
        </p:xfrm>
        <a:graphic>
          <a:graphicData uri="http://schemas.openxmlformats.org/drawingml/2006/table">
            <a:tbl>
              <a:tblPr firstRow="1" bandRow="1">
                <a:tableStyleId>{5C22544A-7EE6-4342-B048-85BDC9FD1C3A}</a:tableStyleId>
              </a:tblPr>
              <a:tblGrid>
                <a:gridCol w="5221582">
                  <a:extLst>
                    <a:ext uri="{9D8B030D-6E8A-4147-A177-3AD203B41FA5}">
                      <a16:colId xmlns:a16="http://schemas.microsoft.com/office/drawing/2014/main" val="3653380442"/>
                    </a:ext>
                  </a:extLst>
                </a:gridCol>
                <a:gridCol w="1267097">
                  <a:extLst>
                    <a:ext uri="{9D8B030D-6E8A-4147-A177-3AD203B41FA5}">
                      <a16:colId xmlns:a16="http://schemas.microsoft.com/office/drawing/2014/main" val="3970895435"/>
                    </a:ext>
                  </a:extLst>
                </a:gridCol>
                <a:gridCol w="1084217">
                  <a:extLst>
                    <a:ext uri="{9D8B030D-6E8A-4147-A177-3AD203B41FA5}">
                      <a16:colId xmlns:a16="http://schemas.microsoft.com/office/drawing/2014/main" val="1785939160"/>
                    </a:ext>
                  </a:extLst>
                </a:gridCol>
                <a:gridCol w="1802476">
                  <a:extLst>
                    <a:ext uri="{9D8B030D-6E8A-4147-A177-3AD203B41FA5}">
                      <a16:colId xmlns:a16="http://schemas.microsoft.com/office/drawing/2014/main" val="2665957510"/>
                    </a:ext>
                  </a:extLst>
                </a:gridCol>
              </a:tblGrid>
              <a:tr h="365760">
                <a:tc>
                  <a:txBody>
                    <a:bodyPr/>
                    <a:lstStyle/>
                    <a:p>
                      <a:endParaRPr lang="en-US" sz="1100" dirty="0"/>
                    </a:p>
                  </a:txBody>
                  <a:tcPr/>
                </a:tc>
                <a:tc gridSpan="2">
                  <a:txBody>
                    <a:bodyPr/>
                    <a:lstStyle/>
                    <a:p>
                      <a:pPr algn="ctr"/>
                      <a:r>
                        <a:rPr lang="en-GB" sz="1100" dirty="0" smtClean="0"/>
                        <a:t>Drinking Status</a:t>
                      </a:r>
                      <a:endParaRPr lang="en-US" sz="1100" dirty="0"/>
                    </a:p>
                  </a:txBody>
                  <a:tcPr/>
                </a:tc>
                <a:tc hMerge="1">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Value of the test and p value</a:t>
                      </a:r>
                    </a:p>
                    <a:p>
                      <a:endParaRPr lang="en-US" sz="1100" dirty="0"/>
                    </a:p>
                  </a:txBody>
                  <a:tcPr/>
                </a:tc>
                <a:extLst>
                  <a:ext uri="{0D108BD9-81ED-4DB2-BD59-A6C34878D82A}">
                    <a16:rowId xmlns:a16="http://schemas.microsoft.com/office/drawing/2014/main" val="79907034"/>
                  </a:ext>
                </a:extLst>
              </a:tr>
              <a:tr h="297795">
                <a:tc>
                  <a:txBody>
                    <a:bodyPr/>
                    <a:lstStyle/>
                    <a:p>
                      <a:r>
                        <a:rPr lang="en-GB" sz="1400" b="1" dirty="0" smtClean="0"/>
                        <a:t>Region</a:t>
                      </a:r>
                      <a:endParaRPr lang="en-US" sz="1400" b="1" dirty="0"/>
                    </a:p>
                  </a:txBody>
                  <a:tcPr/>
                </a:tc>
                <a:tc>
                  <a:txBody>
                    <a:bodyPr/>
                    <a:lstStyle/>
                    <a:p>
                      <a:r>
                        <a:rPr lang="en-GB" sz="1400" b="1" dirty="0" smtClean="0"/>
                        <a:t>Yes</a:t>
                      </a:r>
                      <a:endParaRPr lang="en-US" sz="1400" b="1" dirty="0"/>
                    </a:p>
                  </a:txBody>
                  <a:tcPr/>
                </a:tc>
                <a:tc>
                  <a:txBody>
                    <a:bodyPr/>
                    <a:lstStyle/>
                    <a:p>
                      <a:r>
                        <a:rPr lang="en-GB" sz="1400" b="1" dirty="0" smtClean="0"/>
                        <a:t>No</a:t>
                      </a:r>
                      <a:endParaRPr lang="en-US" sz="1400" b="1" dirty="0"/>
                    </a:p>
                  </a:txBody>
                  <a:tcPr/>
                </a:tc>
                <a:tc rowSpan="19">
                  <a:txBody>
                    <a:bodyPr/>
                    <a:lstStyle/>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r>
                        <a:rPr lang="en-GB" sz="1400" dirty="0" smtClean="0"/>
                        <a:t>Chi-square</a:t>
                      </a:r>
                      <a:r>
                        <a:rPr lang="en-GB" sz="1400" baseline="0" dirty="0" smtClean="0"/>
                        <a:t> = </a:t>
                      </a:r>
                      <a:r>
                        <a:rPr lang="en-US" sz="1400" dirty="0" smtClean="0"/>
                        <a:t>979.74</a:t>
                      </a:r>
                      <a:endParaRPr lang="en-GB" sz="1400" baseline="0" dirty="0" smtClean="0"/>
                    </a:p>
                    <a:p>
                      <a:r>
                        <a:rPr lang="en-GB" sz="1400" baseline="0" dirty="0" smtClean="0"/>
                        <a:t>P-value = </a:t>
                      </a:r>
                      <a:r>
                        <a:rPr lang="en-US" sz="1400" dirty="0" smtClean="0"/>
                        <a:t>0.0004998</a:t>
                      </a:r>
                      <a:endParaRPr lang="en-US" sz="1400" dirty="0"/>
                    </a:p>
                  </a:txBody>
                  <a:tcPr/>
                </a:tc>
                <a:extLst>
                  <a:ext uri="{0D108BD9-81ED-4DB2-BD59-A6C34878D82A}">
                    <a16:rowId xmlns:a16="http://schemas.microsoft.com/office/drawing/2014/main" val="573364543"/>
                  </a:ext>
                </a:extLst>
              </a:tr>
              <a:tr h="297795">
                <a:tc>
                  <a:txBody>
                    <a:bodyPr/>
                    <a:lstStyle/>
                    <a:p>
                      <a:pPr algn="r"/>
                      <a:r>
                        <a:rPr lang="en-US" sz="1100" dirty="0" smtClean="0"/>
                        <a:t>White - English/Welsh/Scottish/Northern Irish/British</a:t>
                      </a:r>
                      <a:endParaRPr lang="en-US" sz="1100" dirty="0"/>
                    </a:p>
                  </a:txBody>
                  <a:tcPr/>
                </a:tc>
                <a:tc>
                  <a:txBody>
                    <a:bodyPr/>
                    <a:lstStyle/>
                    <a:p>
                      <a:r>
                        <a:rPr lang="en-GB" sz="1100" dirty="0" smtClean="0"/>
                        <a:t>5925 (69.5%)</a:t>
                      </a:r>
                      <a:endParaRPr lang="en-US" sz="1100" dirty="0"/>
                    </a:p>
                  </a:txBody>
                  <a:tcPr/>
                </a:tc>
                <a:tc>
                  <a:txBody>
                    <a:bodyPr/>
                    <a:lstStyle/>
                    <a:p>
                      <a:r>
                        <a:rPr lang="en-GB" sz="1100" dirty="0" smtClean="0"/>
                        <a:t>1219 (14.3%)</a:t>
                      </a:r>
                      <a:endParaRPr lang="en-US" sz="1100" dirty="0"/>
                    </a:p>
                  </a:txBody>
                  <a:tcPr/>
                </a:tc>
                <a:tc vMerge="1">
                  <a:txBody>
                    <a:bodyPr/>
                    <a:lstStyle/>
                    <a:p>
                      <a:endParaRPr lang="en-US" sz="1100" dirty="0"/>
                    </a:p>
                  </a:txBody>
                  <a:tcPr/>
                </a:tc>
                <a:extLst>
                  <a:ext uri="{0D108BD9-81ED-4DB2-BD59-A6C34878D82A}">
                    <a16:rowId xmlns:a16="http://schemas.microsoft.com/office/drawing/2014/main" val="3540644502"/>
                  </a:ext>
                </a:extLst>
              </a:tr>
              <a:tr h="297795">
                <a:tc>
                  <a:txBody>
                    <a:bodyPr/>
                    <a:lstStyle/>
                    <a:p>
                      <a:pPr algn="r"/>
                      <a:r>
                        <a:rPr lang="en-US" sz="1100" dirty="0" smtClean="0"/>
                        <a:t>White - Irish </a:t>
                      </a:r>
                      <a:endParaRPr lang="en-US" sz="1100" dirty="0"/>
                    </a:p>
                  </a:txBody>
                  <a:tcPr/>
                </a:tc>
                <a:tc>
                  <a:txBody>
                    <a:bodyPr/>
                    <a:lstStyle/>
                    <a:p>
                      <a:r>
                        <a:rPr lang="en-GB" sz="1100" dirty="0" smtClean="0"/>
                        <a:t>62 (0.72%)</a:t>
                      </a:r>
                      <a:endParaRPr lang="en-US" sz="1100" dirty="0"/>
                    </a:p>
                  </a:txBody>
                  <a:tcPr/>
                </a:tc>
                <a:tc>
                  <a:txBody>
                    <a:bodyPr/>
                    <a:lstStyle/>
                    <a:p>
                      <a:r>
                        <a:rPr lang="en-GB" sz="1100" dirty="0" smtClean="0"/>
                        <a:t>15 (0.17%)</a:t>
                      </a:r>
                      <a:endParaRPr lang="en-US" sz="1100" dirty="0"/>
                    </a:p>
                  </a:txBody>
                  <a:tcPr/>
                </a:tc>
                <a:tc vMerge="1">
                  <a:txBody>
                    <a:bodyPr/>
                    <a:lstStyle/>
                    <a:p>
                      <a:endParaRPr lang="en-US" sz="1100" dirty="0"/>
                    </a:p>
                  </a:txBody>
                  <a:tcPr/>
                </a:tc>
                <a:extLst>
                  <a:ext uri="{0D108BD9-81ED-4DB2-BD59-A6C34878D82A}">
                    <a16:rowId xmlns:a16="http://schemas.microsoft.com/office/drawing/2014/main" val="4106245436"/>
                  </a:ext>
                </a:extLst>
              </a:tr>
              <a:tr h="297795">
                <a:tc>
                  <a:txBody>
                    <a:bodyPr/>
                    <a:lstStyle/>
                    <a:p>
                      <a:pPr algn="r"/>
                      <a:r>
                        <a:rPr lang="en-US" sz="1100" dirty="0" smtClean="0"/>
                        <a:t> White - Gypsy or Irish Traveler</a:t>
                      </a:r>
                      <a:endParaRPr lang="en-US" sz="1100" dirty="0"/>
                    </a:p>
                  </a:txBody>
                  <a:tcPr/>
                </a:tc>
                <a:tc>
                  <a:txBody>
                    <a:bodyPr/>
                    <a:lstStyle/>
                    <a:p>
                      <a:r>
                        <a:rPr lang="en-GB" sz="1100" dirty="0" smtClean="0"/>
                        <a:t>2 (0.02%)</a:t>
                      </a:r>
                      <a:endParaRPr lang="en-US" sz="1100" dirty="0"/>
                    </a:p>
                  </a:txBody>
                  <a:tcPr/>
                </a:tc>
                <a:tc>
                  <a:txBody>
                    <a:bodyPr/>
                    <a:lstStyle/>
                    <a:p>
                      <a:r>
                        <a:rPr lang="en-GB" sz="1100" dirty="0" smtClean="0"/>
                        <a:t>1 (0.01%)</a:t>
                      </a:r>
                      <a:endParaRPr lang="en-US" sz="1100" dirty="0"/>
                    </a:p>
                  </a:txBody>
                  <a:tcPr/>
                </a:tc>
                <a:tc vMerge="1">
                  <a:txBody>
                    <a:bodyPr/>
                    <a:lstStyle/>
                    <a:p>
                      <a:endParaRPr lang="en-US" sz="1100" dirty="0"/>
                    </a:p>
                  </a:txBody>
                  <a:tcPr/>
                </a:tc>
                <a:extLst>
                  <a:ext uri="{0D108BD9-81ED-4DB2-BD59-A6C34878D82A}">
                    <a16:rowId xmlns:a16="http://schemas.microsoft.com/office/drawing/2014/main" val="3898287550"/>
                  </a:ext>
                </a:extLst>
              </a:tr>
              <a:tr h="297795">
                <a:tc>
                  <a:txBody>
                    <a:bodyPr/>
                    <a:lstStyle/>
                    <a:p>
                      <a:pPr algn="r"/>
                      <a:r>
                        <a:rPr lang="en-US" sz="1100" dirty="0" smtClean="0"/>
                        <a:t>Any other white background</a:t>
                      </a:r>
                      <a:endParaRPr lang="en-US" sz="1100" dirty="0"/>
                    </a:p>
                  </a:txBody>
                  <a:tcPr/>
                </a:tc>
                <a:tc>
                  <a:txBody>
                    <a:bodyPr/>
                    <a:lstStyle/>
                    <a:p>
                      <a:r>
                        <a:rPr lang="en-GB" sz="1100" dirty="0" smtClean="0"/>
                        <a:t>326 (3.82%)</a:t>
                      </a:r>
                      <a:endParaRPr lang="en-US" sz="1100" dirty="0"/>
                    </a:p>
                  </a:txBody>
                  <a:tcPr/>
                </a:tc>
                <a:tc>
                  <a:txBody>
                    <a:bodyPr/>
                    <a:lstStyle/>
                    <a:p>
                      <a:r>
                        <a:rPr lang="en-GB" sz="1100" dirty="0" smtClean="0"/>
                        <a:t>88 (1%)</a:t>
                      </a:r>
                      <a:endParaRPr lang="en-US" sz="1100" dirty="0"/>
                    </a:p>
                  </a:txBody>
                  <a:tcPr/>
                </a:tc>
                <a:tc vMerge="1">
                  <a:txBody>
                    <a:bodyPr/>
                    <a:lstStyle/>
                    <a:p>
                      <a:endParaRPr lang="en-US" sz="1100" dirty="0"/>
                    </a:p>
                  </a:txBody>
                  <a:tcPr/>
                </a:tc>
                <a:extLst>
                  <a:ext uri="{0D108BD9-81ED-4DB2-BD59-A6C34878D82A}">
                    <a16:rowId xmlns:a16="http://schemas.microsoft.com/office/drawing/2014/main" val="3831779102"/>
                  </a:ext>
                </a:extLst>
              </a:tr>
              <a:tr h="297795">
                <a:tc>
                  <a:txBody>
                    <a:bodyPr/>
                    <a:lstStyle/>
                    <a:p>
                      <a:pPr algn="r"/>
                      <a:r>
                        <a:rPr lang="en-US" sz="1100" dirty="0" smtClean="0"/>
                        <a:t>White and Black Caribbean</a:t>
                      </a:r>
                      <a:endParaRPr lang="en-US" sz="1100" dirty="0"/>
                    </a:p>
                  </a:txBody>
                  <a:tcPr/>
                </a:tc>
                <a:tc>
                  <a:txBody>
                    <a:bodyPr/>
                    <a:lstStyle/>
                    <a:p>
                      <a:r>
                        <a:rPr lang="en-GB" sz="1100" dirty="0" smtClean="0"/>
                        <a:t>23 (0.26%)</a:t>
                      </a:r>
                      <a:endParaRPr lang="en-US" sz="1100" dirty="0"/>
                    </a:p>
                  </a:txBody>
                  <a:tcPr/>
                </a:tc>
                <a:tc>
                  <a:txBody>
                    <a:bodyPr/>
                    <a:lstStyle/>
                    <a:p>
                      <a:r>
                        <a:rPr lang="en-GB" sz="1100" dirty="0" smtClean="0"/>
                        <a:t>3 (0.03%)</a:t>
                      </a:r>
                      <a:endParaRPr lang="en-US" sz="1100" dirty="0"/>
                    </a:p>
                  </a:txBody>
                  <a:tcPr/>
                </a:tc>
                <a:tc vMerge="1">
                  <a:txBody>
                    <a:bodyPr/>
                    <a:lstStyle/>
                    <a:p>
                      <a:endParaRPr lang="en-US" sz="1100" dirty="0"/>
                    </a:p>
                  </a:txBody>
                  <a:tcPr/>
                </a:tc>
                <a:extLst>
                  <a:ext uri="{0D108BD9-81ED-4DB2-BD59-A6C34878D82A}">
                    <a16:rowId xmlns:a16="http://schemas.microsoft.com/office/drawing/2014/main" val="2733175992"/>
                  </a:ext>
                </a:extLst>
              </a:tr>
              <a:tr h="297795">
                <a:tc>
                  <a:txBody>
                    <a:bodyPr/>
                    <a:lstStyle/>
                    <a:p>
                      <a:pPr algn="r"/>
                      <a:r>
                        <a:rPr lang="en-US" sz="1100" dirty="0" smtClean="0"/>
                        <a:t>White and Black African </a:t>
                      </a:r>
                      <a:endParaRPr lang="en-US" sz="1100" dirty="0"/>
                    </a:p>
                  </a:txBody>
                  <a:tcPr/>
                </a:tc>
                <a:tc>
                  <a:txBody>
                    <a:bodyPr/>
                    <a:lstStyle/>
                    <a:p>
                      <a:r>
                        <a:rPr lang="en-GB" sz="1100" dirty="0" smtClean="0"/>
                        <a:t>8 (0.09%)</a:t>
                      </a:r>
                      <a:endParaRPr lang="en-US" sz="1100" dirty="0"/>
                    </a:p>
                  </a:txBody>
                  <a:tcPr/>
                </a:tc>
                <a:tc>
                  <a:txBody>
                    <a:bodyPr/>
                    <a:lstStyle/>
                    <a:p>
                      <a:r>
                        <a:rPr lang="en-GB" sz="1100" dirty="0" smtClean="0"/>
                        <a:t>2 (0.02%)</a:t>
                      </a:r>
                      <a:endParaRPr lang="en-US" sz="1100" dirty="0"/>
                    </a:p>
                  </a:txBody>
                  <a:tcPr/>
                </a:tc>
                <a:tc vMerge="1">
                  <a:txBody>
                    <a:bodyPr/>
                    <a:lstStyle/>
                    <a:p>
                      <a:endParaRPr lang="en-US" sz="1100" dirty="0"/>
                    </a:p>
                  </a:txBody>
                  <a:tcPr/>
                </a:tc>
                <a:extLst>
                  <a:ext uri="{0D108BD9-81ED-4DB2-BD59-A6C34878D82A}">
                    <a16:rowId xmlns:a16="http://schemas.microsoft.com/office/drawing/2014/main" val="3297273905"/>
                  </a:ext>
                </a:extLst>
              </a:tr>
              <a:tr h="297795">
                <a:tc>
                  <a:txBody>
                    <a:bodyPr/>
                    <a:lstStyle/>
                    <a:p>
                      <a:pPr algn="r"/>
                      <a:r>
                        <a:rPr lang="en-US" sz="1100" dirty="0" smtClean="0"/>
                        <a:t>White and Asian </a:t>
                      </a:r>
                      <a:endParaRPr lang="en-US" sz="1100" dirty="0"/>
                    </a:p>
                  </a:txBody>
                  <a:tcPr/>
                </a:tc>
                <a:tc>
                  <a:txBody>
                    <a:bodyPr/>
                    <a:lstStyle/>
                    <a:p>
                      <a:r>
                        <a:rPr lang="en-GB" sz="1100" dirty="0" smtClean="0"/>
                        <a:t>17 (0.2%)</a:t>
                      </a:r>
                      <a:endParaRPr lang="en-US" sz="1100" dirty="0"/>
                    </a:p>
                  </a:txBody>
                  <a:tcPr/>
                </a:tc>
                <a:tc>
                  <a:txBody>
                    <a:bodyPr/>
                    <a:lstStyle/>
                    <a:p>
                      <a:r>
                        <a:rPr lang="en-GB" sz="1100" dirty="0" smtClean="0"/>
                        <a:t>13 (0.15%)</a:t>
                      </a:r>
                      <a:endParaRPr lang="en-US" sz="1100" dirty="0"/>
                    </a:p>
                  </a:txBody>
                  <a:tcPr/>
                </a:tc>
                <a:tc vMerge="1">
                  <a:txBody>
                    <a:bodyPr/>
                    <a:lstStyle/>
                    <a:p>
                      <a:endParaRPr lang="en-US" sz="1100" dirty="0"/>
                    </a:p>
                  </a:txBody>
                  <a:tcPr/>
                </a:tc>
                <a:extLst>
                  <a:ext uri="{0D108BD9-81ED-4DB2-BD59-A6C34878D82A}">
                    <a16:rowId xmlns:a16="http://schemas.microsoft.com/office/drawing/2014/main" val="517058030"/>
                  </a:ext>
                </a:extLst>
              </a:tr>
              <a:tr h="297795">
                <a:tc>
                  <a:txBody>
                    <a:bodyPr/>
                    <a:lstStyle/>
                    <a:p>
                      <a:pPr algn="r"/>
                      <a:r>
                        <a:rPr lang="en-US" sz="1100" dirty="0" smtClean="0"/>
                        <a:t>Any other mixed/multiple ethnic background </a:t>
                      </a:r>
                      <a:endParaRPr lang="en-US" sz="1100" dirty="0"/>
                    </a:p>
                  </a:txBody>
                  <a:tcPr/>
                </a:tc>
                <a:tc>
                  <a:txBody>
                    <a:bodyPr/>
                    <a:lstStyle/>
                    <a:p>
                      <a:r>
                        <a:rPr lang="en-GB" sz="1100" dirty="0" smtClean="0"/>
                        <a:t>18 (0.2%)</a:t>
                      </a:r>
                      <a:endParaRPr lang="en-US" sz="1100" dirty="0"/>
                    </a:p>
                  </a:txBody>
                  <a:tcPr/>
                </a:tc>
                <a:tc>
                  <a:txBody>
                    <a:bodyPr/>
                    <a:lstStyle/>
                    <a:p>
                      <a:r>
                        <a:rPr lang="en-GB" sz="1100" dirty="0" smtClean="0"/>
                        <a:t>13 (0.15%)</a:t>
                      </a:r>
                      <a:endParaRPr lang="en-US" sz="1100" dirty="0"/>
                    </a:p>
                  </a:txBody>
                  <a:tcPr/>
                </a:tc>
                <a:tc vMerge="1">
                  <a:txBody>
                    <a:bodyPr/>
                    <a:lstStyle/>
                    <a:p>
                      <a:endParaRPr lang="en-US" sz="1100" dirty="0"/>
                    </a:p>
                  </a:txBody>
                  <a:tcPr/>
                </a:tc>
                <a:extLst>
                  <a:ext uri="{0D108BD9-81ED-4DB2-BD59-A6C34878D82A}">
                    <a16:rowId xmlns:a16="http://schemas.microsoft.com/office/drawing/2014/main" val="1299227668"/>
                  </a:ext>
                </a:extLst>
              </a:tr>
              <a:tr h="297795">
                <a:tc>
                  <a:txBody>
                    <a:bodyPr/>
                    <a:lstStyle/>
                    <a:p>
                      <a:pPr algn="r"/>
                      <a:r>
                        <a:rPr lang="en-GB" sz="1100" dirty="0" smtClean="0"/>
                        <a:t>Indian</a:t>
                      </a:r>
                      <a:endParaRPr lang="en-US" sz="1100" dirty="0"/>
                    </a:p>
                  </a:txBody>
                  <a:tcPr/>
                </a:tc>
                <a:tc>
                  <a:txBody>
                    <a:bodyPr/>
                    <a:lstStyle/>
                    <a:p>
                      <a:r>
                        <a:rPr lang="en-GB" sz="1100" dirty="0" smtClean="0"/>
                        <a:t>100 (1.17%)</a:t>
                      </a:r>
                      <a:endParaRPr lang="en-US" sz="1100" dirty="0"/>
                    </a:p>
                  </a:txBody>
                  <a:tcPr/>
                </a:tc>
                <a:tc>
                  <a:txBody>
                    <a:bodyPr/>
                    <a:lstStyle/>
                    <a:p>
                      <a:r>
                        <a:rPr lang="en-GB" sz="1100" dirty="0" smtClean="0"/>
                        <a:t>105 (1.23%)</a:t>
                      </a:r>
                      <a:endParaRPr lang="en-US" sz="1100" dirty="0"/>
                    </a:p>
                  </a:txBody>
                  <a:tcPr/>
                </a:tc>
                <a:tc vMerge="1">
                  <a:txBody>
                    <a:bodyPr/>
                    <a:lstStyle/>
                    <a:p>
                      <a:endParaRPr lang="en-US" sz="1100" dirty="0"/>
                    </a:p>
                  </a:txBody>
                  <a:tcPr/>
                </a:tc>
                <a:extLst>
                  <a:ext uri="{0D108BD9-81ED-4DB2-BD59-A6C34878D82A}">
                    <a16:rowId xmlns:a16="http://schemas.microsoft.com/office/drawing/2014/main" val="81553315"/>
                  </a:ext>
                </a:extLst>
              </a:tr>
              <a:tr h="297795">
                <a:tc>
                  <a:txBody>
                    <a:bodyPr/>
                    <a:lstStyle/>
                    <a:p>
                      <a:pPr algn="r"/>
                      <a:r>
                        <a:rPr lang="en-GB" sz="1100" dirty="0" smtClean="0"/>
                        <a:t>Pakistani</a:t>
                      </a:r>
                      <a:endParaRPr lang="en-US" sz="1100" dirty="0"/>
                    </a:p>
                  </a:txBody>
                  <a:tcPr/>
                </a:tc>
                <a:tc>
                  <a:txBody>
                    <a:bodyPr/>
                    <a:lstStyle/>
                    <a:p>
                      <a:r>
                        <a:rPr lang="en-GB" sz="1100" dirty="0" smtClean="0"/>
                        <a:t>6 (0.1%)</a:t>
                      </a:r>
                      <a:endParaRPr lang="en-US" sz="1100" dirty="0"/>
                    </a:p>
                  </a:txBody>
                  <a:tcPr/>
                </a:tc>
                <a:tc>
                  <a:txBody>
                    <a:bodyPr/>
                    <a:lstStyle/>
                    <a:p>
                      <a:r>
                        <a:rPr lang="en-GB" sz="1100" dirty="0" smtClean="0"/>
                        <a:t>134 (1.6%)</a:t>
                      </a:r>
                      <a:endParaRPr lang="en-US" sz="1100" dirty="0"/>
                    </a:p>
                  </a:txBody>
                  <a:tcPr/>
                </a:tc>
                <a:tc vMerge="1">
                  <a:txBody>
                    <a:bodyPr/>
                    <a:lstStyle/>
                    <a:p>
                      <a:endParaRPr lang="en-US" sz="1100" dirty="0"/>
                    </a:p>
                  </a:txBody>
                  <a:tcPr/>
                </a:tc>
                <a:extLst>
                  <a:ext uri="{0D108BD9-81ED-4DB2-BD59-A6C34878D82A}">
                    <a16:rowId xmlns:a16="http://schemas.microsoft.com/office/drawing/2014/main" val="44809895"/>
                  </a:ext>
                </a:extLst>
              </a:tr>
              <a:tr h="297795">
                <a:tc>
                  <a:txBody>
                    <a:bodyPr/>
                    <a:lstStyle/>
                    <a:p>
                      <a:pPr algn="r"/>
                      <a:r>
                        <a:rPr lang="en-US" sz="1100" dirty="0" smtClean="0"/>
                        <a:t>Bangladeshi</a:t>
                      </a:r>
                      <a:endParaRPr lang="en-US" sz="1100" dirty="0"/>
                    </a:p>
                  </a:txBody>
                  <a:tcPr/>
                </a:tc>
                <a:tc>
                  <a:txBody>
                    <a:bodyPr/>
                    <a:lstStyle/>
                    <a:p>
                      <a:r>
                        <a:rPr lang="en-GB" sz="1100" dirty="0" smtClean="0"/>
                        <a:t>5 (0.06%)</a:t>
                      </a:r>
                      <a:endParaRPr lang="en-US" sz="1100" dirty="0"/>
                    </a:p>
                  </a:txBody>
                  <a:tcPr/>
                </a:tc>
                <a:tc>
                  <a:txBody>
                    <a:bodyPr/>
                    <a:lstStyle/>
                    <a:p>
                      <a:r>
                        <a:rPr lang="en-GB" sz="1100" dirty="0" smtClean="0"/>
                        <a:t>41 (0.48%</a:t>
                      </a:r>
                      <a:endParaRPr lang="en-US" sz="1100" dirty="0"/>
                    </a:p>
                  </a:txBody>
                  <a:tcPr/>
                </a:tc>
                <a:tc vMerge="1">
                  <a:txBody>
                    <a:bodyPr/>
                    <a:lstStyle/>
                    <a:p>
                      <a:endParaRPr lang="en-US" sz="1100" dirty="0"/>
                    </a:p>
                  </a:txBody>
                  <a:tcPr/>
                </a:tc>
                <a:extLst>
                  <a:ext uri="{0D108BD9-81ED-4DB2-BD59-A6C34878D82A}">
                    <a16:rowId xmlns:a16="http://schemas.microsoft.com/office/drawing/2014/main" val="3726748733"/>
                  </a:ext>
                </a:extLst>
              </a:tr>
              <a:tr h="297795">
                <a:tc>
                  <a:txBody>
                    <a:bodyPr/>
                    <a:lstStyle/>
                    <a:p>
                      <a:pPr algn="r"/>
                      <a:r>
                        <a:rPr lang="en-US" sz="1100" dirty="0" smtClean="0"/>
                        <a:t>Chinese </a:t>
                      </a:r>
                      <a:endParaRPr lang="en-US" sz="1100" dirty="0"/>
                    </a:p>
                  </a:txBody>
                  <a:tcPr/>
                </a:tc>
                <a:tc>
                  <a:txBody>
                    <a:bodyPr/>
                    <a:lstStyle/>
                    <a:p>
                      <a:r>
                        <a:rPr lang="en-GB" sz="1100" dirty="0" smtClean="0"/>
                        <a:t>26 (0.3%)</a:t>
                      </a:r>
                      <a:endParaRPr lang="en-US" sz="1100" dirty="0"/>
                    </a:p>
                  </a:txBody>
                  <a:tcPr/>
                </a:tc>
                <a:tc>
                  <a:txBody>
                    <a:bodyPr/>
                    <a:lstStyle/>
                    <a:p>
                      <a:r>
                        <a:rPr lang="en-GB" sz="1100" dirty="0" smtClean="0"/>
                        <a:t>8  (0.1%)</a:t>
                      </a:r>
                      <a:endParaRPr lang="en-US" sz="1100" dirty="0"/>
                    </a:p>
                  </a:txBody>
                  <a:tcPr/>
                </a:tc>
                <a:tc vMerge="1">
                  <a:txBody>
                    <a:bodyPr/>
                    <a:lstStyle/>
                    <a:p>
                      <a:endParaRPr lang="en-US" sz="1100" dirty="0"/>
                    </a:p>
                  </a:txBody>
                  <a:tcPr/>
                </a:tc>
                <a:extLst>
                  <a:ext uri="{0D108BD9-81ED-4DB2-BD59-A6C34878D82A}">
                    <a16:rowId xmlns:a16="http://schemas.microsoft.com/office/drawing/2014/main" val="1025436719"/>
                  </a:ext>
                </a:extLst>
              </a:tr>
              <a:tr h="297795">
                <a:tc>
                  <a:txBody>
                    <a:bodyPr/>
                    <a:lstStyle/>
                    <a:p>
                      <a:pPr algn="r"/>
                      <a:r>
                        <a:rPr lang="en-US" sz="1100" dirty="0" smtClean="0"/>
                        <a:t>Any other Asian background </a:t>
                      </a:r>
                      <a:endParaRPr lang="en-US" sz="1100" dirty="0"/>
                    </a:p>
                  </a:txBody>
                  <a:tcPr/>
                </a:tc>
                <a:tc>
                  <a:txBody>
                    <a:bodyPr/>
                    <a:lstStyle/>
                    <a:p>
                      <a:r>
                        <a:rPr lang="en-GB" sz="1100" dirty="0" smtClean="0"/>
                        <a:t>52 (0.6%)</a:t>
                      </a:r>
                      <a:endParaRPr lang="en-US" sz="1100" dirty="0"/>
                    </a:p>
                  </a:txBody>
                  <a:tcPr/>
                </a:tc>
                <a:tc>
                  <a:txBody>
                    <a:bodyPr/>
                    <a:lstStyle/>
                    <a:p>
                      <a:r>
                        <a:rPr lang="en-GB" sz="1100" dirty="0" smtClean="0"/>
                        <a:t>45 (0.5%)</a:t>
                      </a:r>
                      <a:endParaRPr lang="en-US" sz="1100" dirty="0"/>
                    </a:p>
                  </a:txBody>
                  <a:tcPr/>
                </a:tc>
                <a:tc vMerge="1">
                  <a:txBody>
                    <a:bodyPr/>
                    <a:lstStyle/>
                    <a:p>
                      <a:endParaRPr lang="en-US" sz="1100" dirty="0"/>
                    </a:p>
                  </a:txBody>
                  <a:tcPr/>
                </a:tc>
                <a:extLst>
                  <a:ext uri="{0D108BD9-81ED-4DB2-BD59-A6C34878D82A}">
                    <a16:rowId xmlns:a16="http://schemas.microsoft.com/office/drawing/2014/main" val="1360476789"/>
                  </a:ext>
                </a:extLst>
              </a:tr>
              <a:tr h="297795">
                <a:tc>
                  <a:txBody>
                    <a:bodyPr/>
                    <a:lstStyle/>
                    <a:p>
                      <a:pPr algn="r"/>
                      <a:r>
                        <a:rPr lang="en-US" sz="1100" dirty="0" smtClean="0"/>
                        <a:t>African </a:t>
                      </a:r>
                      <a:endParaRPr lang="en-US" sz="1100" dirty="0"/>
                    </a:p>
                  </a:txBody>
                  <a:tcPr/>
                </a:tc>
                <a:tc>
                  <a:txBody>
                    <a:bodyPr/>
                    <a:lstStyle/>
                    <a:p>
                      <a:r>
                        <a:rPr lang="en-GB" sz="1100" dirty="0" smtClean="0"/>
                        <a:t>46 (0.5%)</a:t>
                      </a:r>
                      <a:endParaRPr lang="en-US" sz="1100" dirty="0"/>
                    </a:p>
                  </a:txBody>
                  <a:tcPr/>
                </a:tc>
                <a:tc>
                  <a:txBody>
                    <a:bodyPr/>
                    <a:lstStyle/>
                    <a:p>
                      <a:r>
                        <a:rPr lang="en-GB" sz="1100" dirty="0" smtClean="0"/>
                        <a:t>72 (0.8%)</a:t>
                      </a:r>
                      <a:endParaRPr lang="en-US" sz="1100" dirty="0"/>
                    </a:p>
                  </a:txBody>
                  <a:tcPr/>
                </a:tc>
                <a:tc vMerge="1">
                  <a:txBody>
                    <a:bodyPr/>
                    <a:lstStyle/>
                    <a:p>
                      <a:endParaRPr lang="en-US" sz="1100" dirty="0"/>
                    </a:p>
                  </a:txBody>
                  <a:tcPr/>
                </a:tc>
                <a:extLst>
                  <a:ext uri="{0D108BD9-81ED-4DB2-BD59-A6C34878D82A}">
                    <a16:rowId xmlns:a16="http://schemas.microsoft.com/office/drawing/2014/main" val="2337108013"/>
                  </a:ext>
                </a:extLst>
              </a:tr>
              <a:tr h="297795">
                <a:tc>
                  <a:txBody>
                    <a:bodyPr/>
                    <a:lstStyle/>
                    <a:p>
                      <a:pPr algn="r"/>
                      <a:r>
                        <a:rPr lang="en-US" sz="1100" dirty="0" smtClean="0"/>
                        <a:t>Caribbean</a:t>
                      </a:r>
                      <a:endParaRPr lang="en-US" sz="1100" dirty="0"/>
                    </a:p>
                  </a:txBody>
                  <a:tcPr/>
                </a:tc>
                <a:tc>
                  <a:txBody>
                    <a:bodyPr/>
                    <a:lstStyle/>
                    <a:p>
                      <a:r>
                        <a:rPr lang="en-GB" sz="1100" dirty="0" smtClean="0"/>
                        <a:t>53 (0.6%)</a:t>
                      </a:r>
                      <a:endParaRPr lang="en-US" sz="1100" dirty="0"/>
                    </a:p>
                  </a:txBody>
                  <a:tcPr/>
                </a:tc>
                <a:tc>
                  <a:txBody>
                    <a:bodyPr/>
                    <a:lstStyle/>
                    <a:p>
                      <a:r>
                        <a:rPr lang="en-GB" sz="1100" dirty="0" smtClean="0"/>
                        <a:t>25 (0.3%)</a:t>
                      </a:r>
                      <a:endParaRPr lang="en-US" sz="1100" dirty="0"/>
                    </a:p>
                  </a:txBody>
                  <a:tcPr/>
                </a:tc>
                <a:tc vMerge="1">
                  <a:txBody>
                    <a:bodyPr/>
                    <a:lstStyle/>
                    <a:p>
                      <a:endParaRPr lang="en-US" sz="1100" dirty="0"/>
                    </a:p>
                  </a:txBody>
                  <a:tcPr/>
                </a:tc>
                <a:extLst>
                  <a:ext uri="{0D108BD9-81ED-4DB2-BD59-A6C34878D82A}">
                    <a16:rowId xmlns:a16="http://schemas.microsoft.com/office/drawing/2014/main" val="1894524116"/>
                  </a:ext>
                </a:extLst>
              </a:tr>
              <a:tr h="297795">
                <a:tc>
                  <a:txBody>
                    <a:bodyPr/>
                    <a:lstStyle/>
                    <a:p>
                      <a:pPr algn="r"/>
                      <a:r>
                        <a:rPr lang="en-US" sz="1100" dirty="0" smtClean="0"/>
                        <a:t>Any other Black/African/Caribbean background </a:t>
                      </a:r>
                      <a:endParaRPr lang="en-US" sz="1100" dirty="0"/>
                    </a:p>
                  </a:txBody>
                  <a:tcPr/>
                </a:tc>
                <a:tc>
                  <a:txBody>
                    <a:bodyPr/>
                    <a:lstStyle/>
                    <a:p>
                      <a:r>
                        <a:rPr lang="en-GB" sz="1100" dirty="0" smtClean="0"/>
                        <a:t>18 (0.2%)</a:t>
                      </a:r>
                      <a:endParaRPr lang="en-US" sz="1100" dirty="0"/>
                    </a:p>
                  </a:txBody>
                  <a:tcPr/>
                </a:tc>
                <a:tc>
                  <a:txBody>
                    <a:bodyPr/>
                    <a:lstStyle/>
                    <a:p>
                      <a:r>
                        <a:rPr lang="en-GB" sz="1100" dirty="0" smtClean="0"/>
                        <a:t>4 (0.05%)</a:t>
                      </a:r>
                      <a:endParaRPr lang="en-US" sz="1100" dirty="0"/>
                    </a:p>
                  </a:txBody>
                  <a:tcPr/>
                </a:tc>
                <a:tc vMerge="1">
                  <a:txBody>
                    <a:bodyPr/>
                    <a:lstStyle/>
                    <a:p>
                      <a:endParaRPr lang="en-US" sz="1100" dirty="0"/>
                    </a:p>
                  </a:txBody>
                  <a:tcPr/>
                </a:tc>
                <a:extLst>
                  <a:ext uri="{0D108BD9-81ED-4DB2-BD59-A6C34878D82A}">
                    <a16:rowId xmlns:a16="http://schemas.microsoft.com/office/drawing/2014/main" val="1763060404"/>
                  </a:ext>
                </a:extLst>
              </a:tr>
              <a:tr h="297795">
                <a:tc>
                  <a:txBody>
                    <a:bodyPr/>
                    <a:lstStyle/>
                    <a:p>
                      <a:pPr algn="r"/>
                      <a:r>
                        <a:rPr lang="en-US" sz="1100" dirty="0" smtClean="0"/>
                        <a:t> Arab </a:t>
                      </a:r>
                      <a:endParaRPr lang="en-US" sz="1100" dirty="0"/>
                    </a:p>
                  </a:txBody>
                  <a:tcPr/>
                </a:tc>
                <a:tc>
                  <a:txBody>
                    <a:bodyPr/>
                    <a:lstStyle/>
                    <a:p>
                      <a:r>
                        <a:rPr lang="en-GB" sz="1100" dirty="0" smtClean="0"/>
                        <a:t>4 (0.05%)</a:t>
                      </a:r>
                      <a:endParaRPr lang="en-US" sz="1100" dirty="0"/>
                    </a:p>
                  </a:txBody>
                  <a:tcPr/>
                </a:tc>
                <a:tc>
                  <a:txBody>
                    <a:bodyPr/>
                    <a:lstStyle/>
                    <a:p>
                      <a:r>
                        <a:rPr lang="en-GB" sz="1100" dirty="0" smtClean="0"/>
                        <a:t>17 (0.2%)</a:t>
                      </a:r>
                      <a:endParaRPr lang="en-US" sz="1100" dirty="0"/>
                    </a:p>
                  </a:txBody>
                  <a:tcPr/>
                </a:tc>
                <a:tc vMerge="1">
                  <a:txBody>
                    <a:bodyPr/>
                    <a:lstStyle/>
                    <a:p>
                      <a:endParaRPr lang="en-US" sz="1100" dirty="0"/>
                    </a:p>
                  </a:txBody>
                  <a:tcPr/>
                </a:tc>
                <a:extLst>
                  <a:ext uri="{0D108BD9-81ED-4DB2-BD59-A6C34878D82A}">
                    <a16:rowId xmlns:a16="http://schemas.microsoft.com/office/drawing/2014/main" val="578936810"/>
                  </a:ext>
                </a:extLst>
              </a:tr>
              <a:tr h="297795">
                <a:tc>
                  <a:txBody>
                    <a:bodyPr/>
                    <a:lstStyle/>
                    <a:p>
                      <a:pPr algn="r"/>
                      <a:r>
                        <a:rPr lang="en-US" sz="1100" dirty="0" smtClean="0"/>
                        <a:t>Any other ethnic group (please describe)</a:t>
                      </a:r>
                      <a:endParaRPr lang="en-US" sz="1100" dirty="0"/>
                    </a:p>
                  </a:txBody>
                  <a:tcPr/>
                </a:tc>
                <a:tc>
                  <a:txBody>
                    <a:bodyPr/>
                    <a:lstStyle/>
                    <a:p>
                      <a:r>
                        <a:rPr lang="en-GB" sz="1100" dirty="0" smtClean="0"/>
                        <a:t>11 (0.12%)</a:t>
                      </a:r>
                      <a:endParaRPr lang="en-US" sz="1100" dirty="0"/>
                    </a:p>
                  </a:txBody>
                  <a:tcPr/>
                </a:tc>
                <a:tc>
                  <a:txBody>
                    <a:bodyPr/>
                    <a:lstStyle/>
                    <a:p>
                      <a:r>
                        <a:rPr lang="en-GB" sz="1100" dirty="0" smtClean="0"/>
                        <a:t>15 (0.17%)</a:t>
                      </a:r>
                      <a:endParaRPr lang="en-US" sz="1100" dirty="0"/>
                    </a:p>
                  </a:txBody>
                  <a:tcPr/>
                </a:tc>
                <a:tc vMerge="1">
                  <a:txBody>
                    <a:bodyPr/>
                    <a:lstStyle/>
                    <a:p>
                      <a:endParaRPr lang="en-US" sz="1100" dirty="0"/>
                    </a:p>
                  </a:txBody>
                  <a:tcPr/>
                </a:tc>
                <a:extLst>
                  <a:ext uri="{0D108BD9-81ED-4DB2-BD59-A6C34878D82A}">
                    <a16:rowId xmlns:a16="http://schemas.microsoft.com/office/drawing/2014/main" val="1529707852"/>
                  </a:ext>
                </a:extLst>
              </a:tr>
            </a:tbl>
          </a:graphicData>
        </a:graphic>
      </p:graphicFrame>
      <p:sp>
        <p:nvSpPr>
          <p:cNvPr id="10" name="Rectangle 9"/>
          <p:cNvSpPr/>
          <p:nvPr/>
        </p:nvSpPr>
        <p:spPr>
          <a:xfrm>
            <a:off x="223749" y="6325970"/>
            <a:ext cx="11871269" cy="523220"/>
          </a:xfrm>
          <a:prstGeom prst="rect">
            <a:avLst/>
          </a:prstGeom>
        </p:spPr>
        <p:txBody>
          <a:bodyPr wrap="square">
            <a:spAutoFit/>
          </a:bodyPr>
          <a:lstStyle/>
          <a:p>
            <a:r>
              <a:rPr lang="en-US" sz="1400" b="1" i="1" dirty="0"/>
              <a:t>Based on the chi-square p-value </a:t>
            </a:r>
            <a:r>
              <a:rPr lang="en-US" sz="1400" b="1" i="1" dirty="0" smtClean="0"/>
              <a:t>(0.0004998) </a:t>
            </a:r>
            <a:r>
              <a:rPr lang="en-US" sz="1400" b="1" i="1" dirty="0"/>
              <a:t>which is less than 0.05, we reject the null hypothesis and conclude that there is a statistically significant difference in alcohol consumption </a:t>
            </a:r>
            <a:r>
              <a:rPr lang="en-US" sz="1400" b="1" i="1" dirty="0" smtClean="0"/>
              <a:t>among regions.</a:t>
            </a:r>
            <a:endParaRPr lang="en-US" sz="1400" b="1" i="1" dirty="0"/>
          </a:p>
        </p:txBody>
      </p:sp>
    </p:spTree>
    <p:extLst>
      <p:ext uri="{BB962C8B-B14F-4D97-AF65-F5344CB8AC3E}">
        <p14:creationId xmlns:p14="http://schemas.microsoft.com/office/powerpoint/2010/main" val="3268914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1380"/>
            <a:ext cx="10515600" cy="341457"/>
          </a:xfrm>
        </p:spPr>
        <p:txBody>
          <a:bodyPr>
            <a:normAutofit fontScale="90000"/>
          </a:bodyPr>
          <a:lstStyle/>
          <a:p>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200" dirty="0" smtClean="0">
                <a:solidFill>
                  <a:srgbClr val="373A3C"/>
                </a:solidFill>
                <a:latin typeface="arial" panose="020B0604020202020204" pitchFamily="34" charset="0"/>
              </a:rPr>
              <a:t>Investigate </a:t>
            </a:r>
            <a:r>
              <a:rPr lang="en-GB" sz="2700" dirty="0">
                <a:solidFill>
                  <a:srgbClr val="373A3C"/>
                </a:solidFill>
                <a:latin typeface="arial" panose="020B0604020202020204" pitchFamily="34" charset="0"/>
              </a:rPr>
              <a:t>whether</a:t>
            </a:r>
            <a:r>
              <a:rPr lang="en-GB" sz="2200" dirty="0">
                <a:solidFill>
                  <a:srgbClr val="373A3C"/>
                </a:solidFill>
                <a:latin typeface="arial" panose="020B0604020202020204" pitchFamily="34" charset="0"/>
              </a:rPr>
              <a:t> there is a statistical difference between men and women on the following variables:</a:t>
            </a: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1800" i="1" dirty="0" err="1" smtClean="0">
                <a:solidFill>
                  <a:srgbClr val="373A3C"/>
                </a:solidFill>
                <a:latin typeface="arial" panose="020B0604020202020204" pitchFamily="34" charset="0"/>
              </a:rPr>
              <a:t>i</a:t>
            </a:r>
            <a:r>
              <a:rPr lang="en-GB" sz="1800" i="1" dirty="0">
                <a:solidFill>
                  <a:srgbClr val="373A3C"/>
                </a:solidFill>
                <a:latin typeface="arial" panose="020B0604020202020204" pitchFamily="34" charset="0"/>
              </a:rPr>
              <a:t>. Valid height </a:t>
            </a:r>
            <a:endParaRPr lang="en-US" sz="1800" i="1" dirty="0"/>
          </a:p>
        </p:txBody>
      </p:sp>
      <p:sp>
        <p:nvSpPr>
          <p:cNvPr id="3" name="Content Placeholder 2"/>
          <p:cNvSpPr>
            <a:spLocks noGrp="1"/>
          </p:cNvSpPr>
          <p:nvPr>
            <p:ph idx="1"/>
          </p:nvPr>
        </p:nvSpPr>
        <p:spPr>
          <a:xfrm>
            <a:off x="838200" y="1911927"/>
            <a:ext cx="10109661" cy="1828800"/>
          </a:xfrm>
        </p:spPr>
        <p:txBody>
          <a:bodyPr/>
          <a:lstStyle/>
          <a:p>
            <a:r>
              <a:rPr lang="en-US" dirty="0" smtClean="0"/>
              <a:t>Null </a:t>
            </a:r>
            <a:r>
              <a:rPr lang="en-US" dirty="0"/>
              <a:t>Hypothesis (H0): There is no difference in height between men and women</a:t>
            </a:r>
            <a:r>
              <a:rPr lang="en-US" dirty="0" smtClean="0"/>
              <a:t>. </a:t>
            </a:r>
          </a:p>
          <a:p>
            <a:r>
              <a:rPr lang="en-US" dirty="0" smtClean="0"/>
              <a:t>Alternative </a:t>
            </a:r>
            <a:r>
              <a:rPr lang="en-US" dirty="0"/>
              <a:t>Hypothesis (H1): There is a difference in height between men and women.</a:t>
            </a:r>
          </a:p>
        </p:txBody>
      </p:sp>
    </p:spTree>
    <p:extLst>
      <p:ext uri="{BB962C8B-B14F-4D97-AF65-F5344CB8AC3E}">
        <p14:creationId xmlns:p14="http://schemas.microsoft.com/office/powerpoint/2010/main" val="1385758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20" y="160338"/>
            <a:ext cx="10515600" cy="355051"/>
          </a:xfrm>
        </p:spPr>
        <p:txBody>
          <a:bodyPr>
            <a:normAutofit/>
          </a:bodyPr>
          <a:lstStyle/>
          <a:p>
            <a:pPr algn="ctr"/>
            <a:r>
              <a:rPr lang="en-US" sz="1800" b="1" dirty="0"/>
              <a:t>check for normal distribution in the </a:t>
            </a:r>
            <a:r>
              <a:rPr lang="en-US" sz="1800" b="1" dirty="0" smtClean="0"/>
              <a:t>height </a:t>
            </a:r>
            <a:r>
              <a:rPr lang="en-US" sz="1800" b="1" dirty="0"/>
              <a:t>data</a:t>
            </a:r>
          </a:p>
        </p:txBody>
      </p:sp>
      <p:sp>
        <p:nvSpPr>
          <p:cNvPr id="5" name="AutoShape 2" descr="http://127.0.0.1:32845/chunk_output/4680DAFC87c84d83/054D69E1/co7vpfaprfyyx/000016.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6527917" y="551477"/>
            <a:ext cx="5051137" cy="3117273"/>
          </a:xfrm>
          <a:prstGeom prst="rect">
            <a:avLst/>
          </a:prstGeom>
        </p:spPr>
      </p:pic>
      <p:pic>
        <p:nvPicPr>
          <p:cNvPr id="7" name="Picture 6"/>
          <p:cNvPicPr>
            <a:picLocks noChangeAspect="1"/>
          </p:cNvPicPr>
          <p:nvPr/>
        </p:nvPicPr>
        <p:blipFill>
          <a:blip r:embed="rId3"/>
          <a:stretch>
            <a:fillRect/>
          </a:stretch>
        </p:blipFill>
        <p:spPr>
          <a:xfrm>
            <a:off x="6527917" y="3285339"/>
            <a:ext cx="4741331" cy="2926079"/>
          </a:xfrm>
          <a:prstGeom prst="rect">
            <a:avLst/>
          </a:prstGeom>
        </p:spPr>
      </p:pic>
      <p:sp>
        <p:nvSpPr>
          <p:cNvPr id="8" name="Rectangle 7"/>
          <p:cNvSpPr/>
          <p:nvPr/>
        </p:nvSpPr>
        <p:spPr>
          <a:xfrm>
            <a:off x="1028008" y="4047637"/>
            <a:ext cx="4233949" cy="1200329"/>
          </a:xfrm>
          <a:prstGeom prst="rect">
            <a:avLst/>
          </a:prstGeom>
        </p:spPr>
        <p:txBody>
          <a:bodyPr wrap="square">
            <a:spAutoFit/>
          </a:bodyPr>
          <a:lstStyle/>
          <a:p>
            <a:r>
              <a:rPr lang="en-US" dirty="0"/>
              <a:t>Shapiro-Wilk normality test</a:t>
            </a:r>
          </a:p>
          <a:p>
            <a:endParaRPr lang="en-US" dirty="0"/>
          </a:p>
          <a:p>
            <a:r>
              <a:rPr lang="en-US" dirty="0"/>
              <a:t>data:  males_data$htval</a:t>
            </a:r>
          </a:p>
          <a:p>
            <a:r>
              <a:rPr lang="en-US" dirty="0"/>
              <a:t>W = 0.73755, p-value &lt; 2.2e-16</a:t>
            </a:r>
          </a:p>
        </p:txBody>
      </p:sp>
      <p:sp>
        <p:nvSpPr>
          <p:cNvPr id="9" name="Rectangle 8"/>
          <p:cNvSpPr/>
          <p:nvPr/>
        </p:nvSpPr>
        <p:spPr>
          <a:xfrm>
            <a:off x="155575" y="6027512"/>
            <a:ext cx="12036425" cy="646331"/>
          </a:xfrm>
          <a:prstGeom prst="rect">
            <a:avLst/>
          </a:prstGeom>
        </p:spPr>
        <p:txBody>
          <a:bodyPr wrap="square">
            <a:spAutoFit/>
          </a:bodyPr>
          <a:lstStyle/>
          <a:p>
            <a:r>
              <a:rPr lang="en-US" b="1" i="1" dirty="0"/>
              <a:t>the Shapiro-Wilk normality test </a:t>
            </a:r>
            <a:r>
              <a:rPr lang="en-US" b="1" i="1" dirty="0" smtClean="0"/>
              <a:t>p-value for height </a:t>
            </a:r>
            <a:r>
              <a:rPr lang="en-US" b="1" i="1" dirty="0"/>
              <a:t>is 2.2e-16, which is less than 0.05 </a:t>
            </a:r>
            <a:r>
              <a:rPr lang="en-US" b="1" i="1" dirty="0" smtClean="0"/>
              <a:t>, this means that the data does </a:t>
            </a:r>
            <a:r>
              <a:rPr lang="en-US" b="1" i="1" dirty="0"/>
              <a:t>not follow a normal distribution therefore we shall use </a:t>
            </a:r>
            <a:r>
              <a:rPr lang="en-US" b="1" i="1" dirty="0" smtClean="0"/>
              <a:t>man </a:t>
            </a:r>
            <a:r>
              <a:rPr lang="en-US" b="1" i="1" dirty="0" err="1" smtClean="0"/>
              <a:t>whitney</a:t>
            </a:r>
            <a:r>
              <a:rPr lang="en-US" b="1" i="1" dirty="0" smtClean="0"/>
              <a:t> </a:t>
            </a:r>
            <a:r>
              <a:rPr lang="en-US" b="1" i="1" dirty="0"/>
              <a:t>u test</a:t>
            </a:r>
          </a:p>
        </p:txBody>
      </p:sp>
      <p:pic>
        <p:nvPicPr>
          <p:cNvPr id="17" name="Picture 16"/>
          <p:cNvPicPr>
            <a:picLocks noChangeAspect="1"/>
          </p:cNvPicPr>
          <p:nvPr/>
        </p:nvPicPr>
        <p:blipFill>
          <a:blip r:embed="rId4"/>
          <a:stretch>
            <a:fillRect/>
          </a:stretch>
        </p:blipFill>
        <p:spPr>
          <a:xfrm>
            <a:off x="578390" y="583137"/>
            <a:ext cx="5026775" cy="3102238"/>
          </a:xfrm>
          <a:prstGeom prst="rect">
            <a:avLst/>
          </a:prstGeom>
        </p:spPr>
      </p:pic>
    </p:spTree>
    <p:extLst>
      <p:ext uri="{BB962C8B-B14F-4D97-AF65-F5344CB8AC3E}">
        <p14:creationId xmlns:p14="http://schemas.microsoft.com/office/powerpoint/2010/main" val="156474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1054" y="412512"/>
            <a:ext cx="10958946" cy="646331"/>
          </a:xfrm>
          <a:prstGeom prst="rect">
            <a:avLst/>
          </a:prstGeom>
        </p:spPr>
        <p:txBody>
          <a:bodyPr wrap="square">
            <a:spAutoFit/>
          </a:bodyPr>
          <a:lstStyle/>
          <a:p>
            <a:r>
              <a:rPr lang="en-US" dirty="0" smtClean="0"/>
              <a:t>Since height </a:t>
            </a:r>
            <a:r>
              <a:rPr lang="en-US" dirty="0"/>
              <a:t>is non parametric we are using the Man-</a:t>
            </a:r>
            <a:r>
              <a:rPr lang="en-US" dirty="0" err="1"/>
              <a:t>whitney</a:t>
            </a:r>
            <a:r>
              <a:rPr lang="en-US" dirty="0"/>
              <a:t> U test to check whether there is a statistical difference </a:t>
            </a:r>
            <a:r>
              <a:rPr lang="en-US" dirty="0" smtClean="0"/>
              <a:t>between men </a:t>
            </a:r>
            <a:r>
              <a:rPr lang="en-US" dirty="0"/>
              <a:t>and </a:t>
            </a:r>
            <a:r>
              <a:rPr lang="en-US" dirty="0" smtClean="0"/>
              <a:t>women in height.</a:t>
            </a:r>
            <a:endParaRPr lang="en-US" dirty="0"/>
          </a:p>
        </p:txBody>
      </p:sp>
      <p:sp>
        <p:nvSpPr>
          <p:cNvPr id="5" name="Rectangle 1"/>
          <p:cNvSpPr>
            <a:spLocks noChangeArrowheads="1"/>
          </p:cNvSpPr>
          <p:nvPr/>
        </p:nvSpPr>
        <p:spPr bwMode="auto">
          <a:xfrm>
            <a:off x="526225" y="2733294"/>
            <a:ext cx="6026728"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000000"/>
                </a:solidFill>
                <a:effectLst/>
                <a:latin typeface="Lucida Console" panose="020B0609040504020204" pitchFamily="49" charset="0"/>
              </a:rPr>
              <a:t>            Wilcoxon rank sum test with continuity correction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00"/>
                </a:solidFill>
                <a:effectLst/>
                <a:latin typeface="Lucida Console" panose="020B0609040504020204" pitchFamily="49" charset="0"/>
              </a:rPr>
              <a:t>data: htval by Sex W = 14713021, p-value &lt; 2.2e-16 alternative hypothesis: true location shift is not equal to 0</a:t>
            </a:r>
            <a:r>
              <a:rPr kumimoji="0" lang="en-US" altLang="en-US" b="0" i="0" u="none" strike="noStrike" cap="none" normalizeH="0" baseline="0" dirty="0" smtClean="0">
                <a:ln>
                  <a:noFill/>
                </a:ln>
                <a:solidFill>
                  <a:schemeClr val="tx1"/>
                </a:solidFill>
                <a:effectLst/>
              </a:rPr>
              <a:t>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471054" y="4189306"/>
            <a:ext cx="10731731" cy="646331"/>
          </a:xfrm>
          <a:prstGeom prst="rect">
            <a:avLst/>
          </a:prstGeom>
        </p:spPr>
        <p:txBody>
          <a:bodyPr wrap="square">
            <a:spAutoFit/>
          </a:bodyPr>
          <a:lstStyle/>
          <a:p>
            <a:r>
              <a:rPr lang="en-US" b="1" i="1" dirty="0"/>
              <a:t>The p-value is 2.2e-16 which is less than 0.05, we reject the null hypothesis and say that the difference in height </a:t>
            </a:r>
            <a:r>
              <a:rPr lang="en-US" b="1" i="1" dirty="0" smtClean="0"/>
              <a:t>is statistically </a:t>
            </a:r>
            <a:r>
              <a:rPr lang="en-US" b="1" i="1" dirty="0"/>
              <a:t>significant between males and females</a:t>
            </a:r>
          </a:p>
        </p:txBody>
      </p:sp>
      <p:sp>
        <p:nvSpPr>
          <p:cNvPr id="7" name="Rectangle 6"/>
          <p:cNvSpPr/>
          <p:nvPr/>
        </p:nvSpPr>
        <p:spPr>
          <a:xfrm>
            <a:off x="539239" y="1919152"/>
            <a:ext cx="5645429" cy="369332"/>
          </a:xfrm>
          <a:prstGeom prst="rect">
            <a:avLst/>
          </a:prstGeom>
        </p:spPr>
        <p:txBody>
          <a:bodyPr wrap="square">
            <a:spAutoFit/>
          </a:bodyPr>
          <a:lstStyle/>
          <a:p>
            <a:r>
              <a:rPr lang="en-US" dirty="0"/>
              <a:t> wilcox.test(htval ~ Sex, data = height_weight)</a:t>
            </a:r>
          </a:p>
        </p:txBody>
      </p:sp>
    </p:spTree>
    <p:extLst>
      <p:ext uri="{BB962C8B-B14F-4D97-AF65-F5344CB8AC3E}">
        <p14:creationId xmlns:p14="http://schemas.microsoft.com/office/powerpoint/2010/main" val="4184786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1380"/>
            <a:ext cx="10515600" cy="341457"/>
          </a:xfrm>
        </p:spPr>
        <p:txBody>
          <a:bodyPr>
            <a:normAutofit fontScale="90000"/>
          </a:bodyPr>
          <a:lstStyle/>
          <a:p>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200" dirty="0" smtClean="0">
                <a:solidFill>
                  <a:srgbClr val="373A3C"/>
                </a:solidFill>
                <a:latin typeface="arial" panose="020B0604020202020204" pitchFamily="34" charset="0"/>
              </a:rPr>
              <a:t>Investigate </a:t>
            </a:r>
            <a:r>
              <a:rPr lang="en-GB" sz="2700" dirty="0">
                <a:solidFill>
                  <a:srgbClr val="373A3C"/>
                </a:solidFill>
                <a:latin typeface="arial" panose="020B0604020202020204" pitchFamily="34" charset="0"/>
              </a:rPr>
              <a:t>whether</a:t>
            </a:r>
            <a:r>
              <a:rPr lang="en-GB" sz="2200" dirty="0">
                <a:solidFill>
                  <a:srgbClr val="373A3C"/>
                </a:solidFill>
                <a:latin typeface="arial" panose="020B0604020202020204" pitchFamily="34" charset="0"/>
              </a:rPr>
              <a:t> there is a statistical difference between men and women on the following variables:</a:t>
            </a: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1800" i="1" dirty="0" err="1" smtClean="0">
                <a:solidFill>
                  <a:srgbClr val="373A3C"/>
                </a:solidFill>
                <a:latin typeface="arial" panose="020B0604020202020204" pitchFamily="34" charset="0"/>
              </a:rPr>
              <a:t>i</a:t>
            </a:r>
            <a:r>
              <a:rPr lang="en-GB" sz="1800" i="1" dirty="0">
                <a:solidFill>
                  <a:srgbClr val="373A3C"/>
                </a:solidFill>
                <a:latin typeface="arial" panose="020B0604020202020204" pitchFamily="34" charset="0"/>
              </a:rPr>
              <a:t>. Valid </a:t>
            </a:r>
            <a:r>
              <a:rPr lang="en-GB" sz="1800" i="1" dirty="0" smtClean="0">
                <a:solidFill>
                  <a:srgbClr val="373A3C"/>
                </a:solidFill>
                <a:latin typeface="arial" panose="020B0604020202020204" pitchFamily="34" charset="0"/>
              </a:rPr>
              <a:t>weight</a:t>
            </a:r>
            <a:r>
              <a:rPr lang="en-GB" sz="1800" i="1" dirty="0">
                <a:solidFill>
                  <a:srgbClr val="373A3C"/>
                </a:solidFill>
                <a:latin typeface="arial" panose="020B0604020202020204" pitchFamily="34" charset="0"/>
              </a:rPr>
              <a:t> </a:t>
            </a:r>
            <a:endParaRPr lang="en-US" sz="1800" i="1" dirty="0"/>
          </a:p>
        </p:txBody>
      </p:sp>
      <p:sp>
        <p:nvSpPr>
          <p:cNvPr id="3" name="Content Placeholder 2"/>
          <p:cNvSpPr>
            <a:spLocks noGrp="1"/>
          </p:cNvSpPr>
          <p:nvPr>
            <p:ph idx="1"/>
          </p:nvPr>
        </p:nvSpPr>
        <p:spPr>
          <a:xfrm>
            <a:off x="838200" y="1911927"/>
            <a:ext cx="10109661" cy="1828800"/>
          </a:xfrm>
        </p:spPr>
        <p:txBody>
          <a:bodyPr/>
          <a:lstStyle/>
          <a:p>
            <a:r>
              <a:rPr lang="en-US" dirty="0" smtClean="0"/>
              <a:t>Null </a:t>
            </a:r>
            <a:r>
              <a:rPr lang="en-US" dirty="0"/>
              <a:t>Hypothesis (H0): There is no difference in </a:t>
            </a:r>
            <a:r>
              <a:rPr lang="en-US" dirty="0" smtClean="0"/>
              <a:t>weight </a:t>
            </a:r>
            <a:r>
              <a:rPr lang="en-US" dirty="0"/>
              <a:t>between men and women</a:t>
            </a:r>
            <a:r>
              <a:rPr lang="en-US" dirty="0" smtClean="0"/>
              <a:t>. </a:t>
            </a:r>
          </a:p>
          <a:p>
            <a:r>
              <a:rPr lang="en-US" dirty="0" smtClean="0"/>
              <a:t>Alternative </a:t>
            </a:r>
            <a:r>
              <a:rPr lang="en-US" dirty="0"/>
              <a:t>Hypothesis (H1): There is a difference in </a:t>
            </a:r>
            <a:r>
              <a:rPr lang="en-US" dirty="0" smtClean="0"/>
              <a:t>weight </a:t>
            </a:r>
            <a:r>
              <a:rPr lang="en-US" dirty="0"/>
              <a:t>between men and women.</a:t>
            </a:r>
          </a:p>
        </p:txBody>
      </p:sp>
    </p:spTree>
    <p:extLst>
      <p:ext uri="{BB962C8B-B14F-4D97-AF65-F5344CB8AC3E}">
        <p14:creationId xmlns:p14="http://schemas.microsoft.com/office/powerpoint/2010/main" val="921968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20" y="160338"/>
            <a:ext cx="10515600" cy="355051"/>
          </a:xfrm>
        </p:spPr>
        <p:txBody>
          <a:bodyPr>
            <a:normAutofit/>
          </a:bodyPr>
          <a:lstStyle/>
          <a:p>
            <a:pPr algn="ctr"/>
            <a:r>
              <a:rPr lang="en-US" sz="1800" b="1" dirty="0"/>
              <a:t>check for normal distribution in the w</a:t>
            </a:r>
            <a:r>
              <a:rPr lang="en-US" sz="1800" b="1" dirty="0" smtClean="0"/>
              <a:t>eight </a:t>
            </a:r>
            <a:r>
              <a:rPr lang="en-US" sz="1800" b="1" dirty="0"/>
              <a:t>data</a:t>
            </a:r>
          </a:p>
        </p:txBody>
      </p:sp>
      <p:sp>
        <p:nvSpPr>
          <p:cNvPr id="5" name="AutoShape 2" descr="http://127.0.0.1:32845/chunk_output/4680DAFC87c84d83/054D69E1/co7vpfaprfyyx/000016.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155575" y="6027512"/>
            <a:ext cx="12036425" cy="646331"/>
          </a:xfrm>
          <a:prstGeom prst="rect">
            <a:avLst/>
          </a:prstGeom>
        </p:spPr>
        <p:txBody>
          <a:bodyPr wrap="square">
            <a:spAutoFit/>
          </a:bodyPr>
          <a:lstStyle/>
          <a:p>
            <a:r>
              <a:rPr lang="en-US" b="1" i="1" dirty="0"/>
              <a:t>the Shapiro-Wilk normality test </a:t>
            </a:r>
            <a:r>
              <a:rPr lang="en-US" b="1" i="1" dirty="0" smtClean="0"/>
              <a:t>p-value for weight </a:t>
            </a:r>
            <a:r>
              <a:rPr lang="en-US" b="1" i="1" dirty="0"/>
              <a:t>is 2.2e-16, which is less than 0.05 </a:t>
            </a:r>
            <a:r>
              <a:rPr lang="en-US" b="1" i="1" dirty="0" smtClean="0"/>
              <a:t>, this means that the data does </a:t>
            </a:r>
            <a:r>
              <a:rPr lang="en-US" b="1" i="1" dirty="0"/>
              <a:t>not follow a normal distribution therefore we shall use </a:t>
            </a:r>
            <a:r>
              <a:rPr lang="en-US" b="1" i="1" dirty="0" smtClean="0"/>
              <a:t>man </a:t>
            </a:r>
            <a:r>
              <a:rPr lang="en-US" b="1" i="1" dirty="0" err="1" smtClean="0"/>
              <a:t>whitney</a:t>
            </a:r>
            <a:r>
              <a:rPr lang="en-US" b="1" i="1" dirty="0" smtClean="0"/>
              <a:t> </a:t>
            </a:r>
            <a:r>
              <a:rPr lang="en-US" b="1" i="1" dirty="0"/>
              <a:t>u test</a:t>
            </a:r>
          </a:p>
        </p:txBody>
      </p:sp>
      <p:pic>
        <p:nvPicPr>
          <p:cNvPr id="4" name="Picture 3"/>
          <p:cNvPicPr>
            <a:picLocks noChangeAspect="1"/>
          </p:cNvPicPr>
          <p:nvPr/>
        </p:nvPicPr>
        <p:blipFill>
          <a:blip r:embed="rId2"/>
          <a:stretch>
            <a:fillRect/>
          </a:stretch>
        </p:blipFill>
        <p:spPr>
          <a:xfrm>
            <a:off x="568441" y="470035"/>
            <a:ext cx="4635327" cy="2860659"/>
          </a:xfrm>
          <a:prstGeom prst="rect">
            <a:avLst/>
          </a:prstGeom>
        </p:spPr>
      </p:pic>
      <p:pic>
        <p:nvPicPr>
          <p:cNvPr id="10" name="Picture 9"/>
          <p:cNvPicPr>
            <a:picLocks noChangeAspect="1"/>
          </p:cNvPicPr>
          <p:nvPr/>
        </p:nvPicPr>
        <p:blipFill>
          <a:blip r:embed="rId3"/>
          <a:stretch>
            <a:fillRect/>
          </a:stretch>
        </p:blipFill>
        <p:spPr>
          <a:xfrm>
            <a:off x="6527917" y="515390"/>
            <a:ext cx="4395007" cy="2712346"/>
          </a:xfrm>
          <a:prstGeom prst="rect">
            <a:avLst/>
          </a:prstGeom>
        </p:spPr>
      </p:pic>
      <p:pic>
        <p:nvPicPr>
          <p:cNvPr id="11" name="Picture 10"/>
          <p:cNvPicPr>
            <a:picLocks noChangeAspect="1"/>
          </p:cNvPicPr>
          <p:nvPr/>
        </p:nvPicPr>
        <p:blipFill>
          <a:blip r:embed="rId4"/>
          <a:stretch>
            <a:fillRect/>
          </a:stretch>
        </p:blipFill>
        <p:spPr>
          <a:xfrm>
            <a:off x="6694170" y="3429026"/>
            <a:ext cx="4062499" cy="2507142"/>
          </a:xfrm>
          <a:prstGeom prst="rect">
            <a:avLst/>
          </a:prstGeom>
        </p:spPr>
      </p:pic>
      <p:sp>
        <p:nvSpPr>
          <p:cNvPr id="12" name="Rectangle 11"/>
          <p:cNvSpPr/>
          <p:nvPr/>
        </p:nvSpPr>
        <p:spPr>
          <a:xfrm>
            <a:off x="803564" y="3784800"/>
            <a:ext cx="6096000" cy="1200329"/>
          </a:xfrm>
          <a:prstGeom prst="rect">
            <a:avLst/>
          </a:prstGeom>
        </p:spPr>
        <p:txBody>
          <a:bodyPr>
            <a:spAutoFit/>
          </a:bodyPr>
          <a:lstStyle/>
          <a:p>
            <a:r>
              <a:rPr lang="en-US" dirty="0"/>
              <a:t>Shapiro-Wilk normality test</a:t>
            </a:r>
          </a:p>
          <a:p>
            <a:endParaRPr lang="en-US" dirty="0"/>
          </a:p>
          <a:p>
            <a:r>
              <a:rPr lang="en-US" dirty="0"/>
              <a:t>data:  males_data$wtval</a:t>
            </a:r>
          </a:p>
          <a:p>
            <a:r>
              <a:rPr lang="en-US" dirty="0"/>
              <a:t>W = 0.93674, p-value &lt; 2.2e-16</a:t>
            </a:r>
          </a:p>
        </p:txBody>
      </p:sp>
    </p:spTree>
    <p:extLst>
      <p:ext uri="{BB962C8B-B14F-4D97-AF65-F5344CB8AC3E}">
        <p14:creationId xmlns:p14="http://schemas.microsoft.com/office/powerpoint/2010/main" val="4133711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1054" y="412512"/>
            <a:ext cx="10958946" cy="646331"/>
          </a:xfrm>
          <a:prstGeom prst="rect">
            <a:avLst/>
          </a:prstGeom>
        </p:spPr>
        <p:txBody>
          <a:bodyPr wrap="square">
            <a:spAutoFit/>
          </a:bodyPr>
          <a:lstStyle/>
          <a:p>
            <a:r>
              <a:rPr lang="en-US" dirty="0" smtClean="0"/>
              <a:t>Since height </a:t>
            </a:r>
            <a:r>
              <a:rPr lang="en-US" dirty="0"/>
              <a:t>is non parametric we are using the Man-</a:t>
            </a:r>
            <a:r>
              <a:rPr lang="en-US" dirty="0" err="1"/>
              <a:t>whitney</a:t>
            </a:r>
            <a:r>
              <a:rPr lang="en-US" dirty="0"/>
              <a:t> U test to check whether there is a statistical difference </a:t>
            </a:r>
            <a:r>
              <a:rPr lang="en-US" dirty="0" smtClean="0"/>
              <a:t>between men </a:t>
            </a:r>
            <a:r>
              <a:rPr lang="en-US" dirty="0"/>
              <a:t>and </a:t>
            </a:r>
            <a:r>
              <a:rPr lang="en-US" dirty="0" smtClean="0"/>
              <a:t>women in weight.</a:t>
            </a:r>
            <a:endParaRPr lang="en-US" dirty="0"/>
          </a:p>
        </p:txBody>
      </p:sp>
      <p:sp>
        <p:nvSpPr>
          <p:cNvPr id="5" name="Rectangle 1"/>
          <p:cNvSpPr>
            <a:spLocks noChangeArrowheads="1"/>
          </p:cNvSpPr>
          <p:nvPr/>
        </p:nvSpPr>
        <p:spPr bwMode="auto">
          <a:xfrm>
            <a:off x="526225" y="2733294"/>
            <a:ext cx="6026728"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000000"/>
                </a:solidFill>
                <a:effectLst/>
                <a:latin typeface="Lucida Console" panose="020B0609040504020204" pitchFamily="49" charset="0"/>
              </a:rPr>
              <a:t>            Wilcoxon rank sum test with continuity correction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00"/>
                </a:solidFill>
                <a:effectLst/>
                <a:latin typeface="Lucida Console" panose="020B0609040504020204" pitchFamily="49" charset="0"/>
              </a:rPr>
              <a:t>data: htval by Sex W = 14713021, p-value &lt; 2.2e-16 alternative hypothesis: true location shift is not equal to 0</a:t>
            </a:r>
            <a:r>
              <a:rPr kumimoji="0" lang="en-US" altLang="en-US" b="0" i="0" u="none" strike="noStrike" cap="none" normalizeH="0" baseline="0" dirty="0" smtClean="0">
                <a:ln>
                  <a:noFill/>
                </a:ln>
                <a:solidFill>
                  <a:schemeClr val="tx1"/>
                </a:solidFill>
                <a:effectLst/>
              </a:rPr>
              <a:t>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471054" y="4189306"/>
            <a:ext cx="10731731" cy="646331"/>
          </a:xfrm>
          <a:prstGeom prst="rect">
            <a:avLst/>
          </a:prstGeom>
        </p:spPr>
        <p:txBody>
          <a:bodyPr wrap="square">
            <a:spAutoFit/>
          </a:bodyPr>
          <a:lstStyle/>
          <a:p>
            <a:r>
              <a:rPr lang="en-US" b="1" i="1" dirty="0"/>
              <a:t>The p-value is 2.2e-16 which is less than 0.05, we reject the null hypothesis and say that the difference in </a:t>
            </a:r>
            <a:r>
              <a:rPr lang="en-US" b="1" i="1" dirty="0" smtClean="0"/>
              <a:t>weight is statistically </a:t>
            </a:r>
            <a:r>
              <a:rPr lang="en-US" b="1" i="1" dirty="0"/>
              <a:t>significant between males and females</a:t>
            </a:r>
          </a:p>
        </p:txBody>
      </p:sp>
      <p:sp>
        <p:nvSpPr>
          <p:cNvPr id="7" name="Rectangle 6"/>
          <p:cNvSpPr/>
          <p:nvPr/>
        </p:nvSpPr>
        <p:spPr>
          <a:xfrm>
            <a:off x="539239" y="1919152"/>
            <a:ext cx="5645429" cy="369332"/>
          </a:xfrm>
          <a:prstGeom prst="rect">
            <a:avLst/>
          </a:prstGeom>
        </p:spPr>
        <p:txBody>
          <a:bodyPr wrap="square">
            <a:spAutoFit/>
          </a:bodyPr>
          <a:lstStyle/>
          <a:p>
            <a:r>
              <a:rPr lang="en-US" dirty="0"/>
              <a:t> wilcox.test(</a:t>
            </a:r>
            <a:r>
              <a:rPr lang="en-US" dirty="0" err="1"/>
              <a:t>wtval</a:t>
            </a:r>
            <a:r>
              <a:rPr lang="en-US" dirty="0"/>
              <a:t> ~ Sex, data = height_weight)</a:t>
            </a:r>
          </a:p>
        </p:txBody>
      </p:sp>
      <p:sp>
        <p:nvSpPr>
          <p:cNvPr id="2" name="Rectangle 1"/>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000000"/>
                </a:solidFill>
                <a:effectLst/>
                <a:latin typeface="Lucida Console" panose="020B0609040504020204" pitchFamily="49" charset="0"/>
              </a:rPr>
              <a:t>Wilcoxon rank sum test with continuity correction data: wtval by Sex W = 12449400, p-value &lt; 2.2e-16 alternative hypothesis: true location shift is not equal to 0</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7471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2123" y="141007"/>
            <a:ext cx="11258203" cy="646331"/>
          </a:xfrm>
          <a:prstGeom prst="rect">
            <a:avLst/>
          </a:prstGeom>
        </p:spPr>
        <p:txBody>
          <a:bodyPr wrap="square">
            <a:spAutoFit/>
          </a:bodyPr>
          <a:lstStyle/>
          <a:p>
            <a:r>
              <a:rPr lang="en-GB" dirty="0">
                <a:solidFill>
                  <a:srgbClr val="373A3C"/>
                </a:solidFill>
                <a:latin typeface="arial" panose="020B0604020202020204" pitchFamily="34" charset="0"/>
              </a:rPr>
              <a:t>What is the correlation between whether a person drinks nowadays, total household income, age at last birthday and gender?</a:t>
            </a:r>
            <a:endParaRPr lang="en-US" dirty="0"/>
          </a:p>
        </p:txBody>
      </p:sp>
      <p:graphicFrame>
        <p:nvGraphicFramePr>
          <p:cNvPr id="5" name="Table 5">
            <a:extLst>
              <a:ext uri="{FF2B5EF4-FFF2-40B4-BE49-F238E27FC236}">
                <a16:creationId xmlns:a16="http://schemas.microsoft.com/office/drawing/2014/main" id="{68278F10-04F2-0ECE-6BD9-FB93484A0905}"/>
              </a:ext>
            </a:extLst>
          </p:cNvPr>
          <p:cNvGraphicFramePr>
            <a:graphicFrameLocks noGrp="1"/>
          </p:cNvGraphicFramePr>
          <p:nvPr>
            <p:ph idx="1"/>
            <p:extLst>
              <p:ext uri="{D42A27DB-BD31-4B8C-83A1-F6EECF244321}">
                <p14:modId xmlns:p14="http://schemas.microsoft.com/office/powerpoint/2010/main" val="216286704"/>
              </p:ext>
            </p:extLst>
          </p:nvPr>
        </p:nvGraphicFramePr>
        <p:xfrm>
          <a:off x="404946" y="1254033"/>
          <a:ext cx="11691259" cy="3463677"/>
        </p:xfrm>
        <a:graphic>
          <a:graphicData uri="http://schemas.openxmlformats.org/drawingml/2006/table">
            <a:tbl>
              <a:tblPr firstRow="1" bandRow="1">
                <a:tableStyleId>{5C22544A-7EE6-4342-B048-85BDC9FD1C3A}</a:tableStyleId>
              </a:tblPr>
              <a:tblGrid>
                <a:gridCol w="2905522">
                  <a:extLst>
                    <a:ext uri="{9D8B030D-6E8A-4147-A177-3AD203B41FA5}">
                      <a16:colId xmlns:a16="http://schemas.microsoft.com/office/drawing/2014/main" val="2612854255"/>
                    </a:ext>
                  </a:extLst>
                </a:gridCol>
                <a:gridCol w="2103042">
                  <a:extLst>
                    <a:ext uri="{9D8B030D-6E8A-4147-A177-3AD203B41FA5}">
                      <a16:colId xmlns:a16="http://schemas.microsoft.com/office/drawing/2014/main" val="411254682"/>
                    </a:ext>
                  </a:extLst>
                </a:gridCol>
                <a:gridCol w="2371953">
                  <a:extLst>
                    <a:ext uri="{9D8B030D-6E8A-4147-A177-3AD203B41FA5}">
                      <a16:colId xmlns:a16="http://schemas.microsoft.com/office/drawing/2014/main" val="1404360148"/>
                    </a:ext>
                  </a:extLst>
                </a:gridCol>
                <a:gridCol w="2194560">
                  <a:extLst>
                    <a:ext uri="{9D8B030D-6E8A-4147-A177-3AD203B41FA5}">
                      <a16:colId xmlns:a16="http://schemas.microsoft.com/office/drawing/2014/main" val="2059423314"/>
                    </a:ext>
                  </a:extLst>
                </a:gridCol>
                <a:gridCol w="2116182">
                  <a:extLst>
                    <a:ext uri="{9D8B030D-6E8A-4147-A177-3AD203B41FA5}">
                      <a16:colId xmlns:a16="http://schemas.microsoft.com/office/drawing/2014/main" val="1862034478"/>
                    </a:ext>
                  </a:extLst>
                </a:gridCol>
              </a:tblGrid>
              <a:tr h="903357">
                <a:tc>
                  <a:txBody>
                    <a:bodyPr/>
                    <a:lstStyle/>
                    <a:p>
                      <a:endParaRPr lang="en-US" dirty="0"/>
                    </a:p>
                  </a:txBody>
                  <a:tcPr/>
                </a:tc>
                <a:tc>
                  <a:txBody>
                    <a:bodyPr/>
                    <a:lstStyle/>
                    <a:p>
                      <a:r>
                        <a:rPr lang="en-US" dirty="0"/>
                        <a:t>Drink now a days</a:t>
                      </a:r>
                    </a:p>
                  </a:txBody>
                  <a:tcPr/>
                </a:tc>
                <a:tc>
                  <a:txBody>
                    <a:bodyPr/>
                    <a:lstStyle/>
                    <a:p>
                      <a:r>
                        <a:rPr lang="en-US" dirty="0"/>
                        <a:t>Total household income</a:t>
                      </a:r>
                    </a:p>
                  </a:txBody>
                  <a:tcPr/>
                </a:tc>
                <a:tc>
                  <a:txBody>
                    <a:bodyPr/>
                    <a:lstStyle/>
                    <a:p>
                      <a:r>
                        <a:rPr lang="en-US" dirty="0"/>
                        <a:t>Age at last birthday</a:t>
                      </a:r>
                    </a:p>
                  </a:txBody>
                  <a:tcPr/>
                </a:tc>
                <a:tc>
                  <a:txBody>
                    <a:bodyPr/>
                    <a:lstStyle/>
                    <a:p>
                      <a:r>
                        <a:rPr lang="en-US" dirty="0"/>
                        <a:t>Gender</a:t>
                      </a:r>
                    </a:p>
                  </a:txBody>
                  <a:tcPr/>
                </a:tc>
                <a:extLst>
                  <a:ext uri="{0D108BD9-81ED-4DB2-BD59-A6C34878D82A}">
                    <a16:rowId xmlns:a16="http://schemas.microsoft.com/office/drawing/2014/main" val="3296971108"/>
                  </a:ext>
                </a:extLst>
              </a:tr>
              <a:tr h="4551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Drink now a days</a:t>
                      </a:r>
                    </a:p>
                  </a:txBody>
                  <a:tcPr/>
                </a:tc>
                <a:tc>
                  <a:txBody>
                    <a:bodyPr/>
                    <a:lstStyle/>
                    <a:p>
                      <a:endParaRPr lang="en-US" dirty="0"/>
                    </a:p>
                  </a:txBody>
                  <a:tcPr/>
                </a:tc>
                <a:tc>
                  <a:txBody>
                    <a:bodyPr/>
                    <a:lstStyle/>
                    <a:p>
                      <a:r>
                        <a:rPr lang="en-US" dirty="0" smtClean="0"/>
                        <a:t>r=-0.15</a:t>
                      </a:r>
                    </a:p>
                    <a:p>
                      <a:r>
                        <a:rPr lang="en-US" dirty="0" smtClean="0"/>
                        <a:t>p-value &lt;2.2e-16</a:t>
                      </a:r>
                      <a:endParaRPr lang="en-US" dirty="0"/>
                    </a:p>
                  </a:txBody>
                  <a:tcPr/>
                </a:tc>
                <a:tc>
                  <a:txBody>
                    <a:bodyPr/>
                    <a:lstStyle/>
                    <a:p>
                      <a:r>
                        <a:rPr lang="en-US" dirty="0" smtClean="0"/>
                        <a:t>r=0.06</a:t>
                      </a:r>
                    </a:p>
                    <a:p>
                      <a:r>
                        <a:rPr lang="en-US" dirty="0" smtClean="0"/>
                        <a:t>p-value = 1.871e-10</a:t>
                      </a:r>
                      <a:endParaRPr lang="en-US" dirty="0"/>
                    </a:p>
                  </a:txBody>
                  <a:tcPr/>
                </a:tc>
                <a:tc>
                  <a:txBody>
                    <a:bodyPr/>
                    <a:lstStyle/>
                    <a:p>
                      <a:r>
                        <a:rPr lang="en-US" dirty="0" smtClean="0"/>
                        <a:t>r=0.11</a:t>
                      </a:r>
                    </a:p>
                    <a:p>
                      <a:r>
                        <a:rPr lang="en-US" dirty="0" smtClean="0"/>
                        <a:t>p-value &lt; 2.2e-16</a:t>
                      </a:r>
                      <a:endParaRPr lang="en-US" dirty="0"/>
                    </a:p>
                  </a:txBody>
                  <a:tcPr/>
                </a:tc>
                <a:extLst>
                  <a:ext uri="{0D108BD9-81ED-4DB2-BD59-A6C34878D82A}">
                    <a16:rowId xmlns:a16="http://schemas.microsoft.com/office/drawing/2014/main" val="3349532520"/>
                  </a:ext>
                </a:extLst>
              </a:tr>
              <a:tr h="365760">
                <a:tc>
                  <a:txBody>
                    <a:bodyPr/>
                    <a:lstStyle/>
                    <a:p>
                      <a:r>
                        <a:rPr lang="en-US" dirty="0"/>
                        <a:t>Total household income</a:t>
                      </a:r>
                    </a:p>
                  </a:txBody>
                  <a:tcPr/>
                </a:tc>
                <a:tc>
                  <a:txBody>
                    <a:bodyPr/>
                    <a:lstStyle/>
                    <a:p>
                      <a:r>
                        <a:rPr lang="en-US" dirty="0" smtClean="0"/>
                        <a:t>r=-0.15</a:t>
                      </a:r>
                    </a:p>
                    <a:p>
                      <a:r>
                        <a:rPr lang="en-US" dirty="0" smtClean="0"/>
                        <a:t>p-value &lt;2.2e-16</a:t>
                      </a:r>
                      <a:endParaRPr lang="en-US" dirty="0"/>
                    </a:p>
                  </a:txBody>
                  <a:tcPr/>
                </a:tc>
                <a:tc>
                  <a:txBody>
                    <a:bodyPr/>
                    <a:lstStyle/>
                    <a:p>
                      <a:endParaRPr lang="en-US" dirty="0"/>
                    </a:p>
                  </a:txBody>
                  <a:tcPr/>
                </a:tc>
                <a:tc>
                  <a:txBody>
                    <a:bodyPr/>
                    <a:lstStyle/>
                    <a:p>
                      <a:r>
                        <a:rPr lang="en-US" dirty="0" smtClean="0"/>
                        <a:t>r=-0.04</a:t>
                      </a:r>
                    </a:p>
                    <a:p>
                      <a:r>
                        <a:rPr lang="en-US" dirty="0" smtClean="0"/>
                        <a:t>p-value = 1.125e-05</a:t>
                      </a:r>
                    </a:p>
                  </a:txBody>
                  <a:tcPr/>
                </a:tc>
                <a:tc>
                  <a:txBody>
                    <a:bodyPr/>
                    <a:lstStyle/>
                    <a:p>
                      <a:r>
                        <a:rPr lang="en-US" dirty="0" smtClean="0"/>
                        <a:t>r=-0.04</a:t>
                      </a:r>
                    </a:p>
                    <a:p>
                      <a:r>
                        <a:rPr lang="en-US" dirty="0" smtClean="0"/>
                        <a:t>p-value = 2.172e-05</a:t>
                      </a:r>
                      <a:endParaRPr lang="en-US" dirty="0"/>
                    </a:p>
                  </a:txBody>
                  <a:tcPr/>
                </a:tc>
                <a:extLst>
                  <a:ext uri="{0D108BD9-81ED-4DB2-BD59-A6C34878D82A}">
                    <a16:rowId xmlns:a16="http://schemas.microsoft.com/office/drawing/2014/main" val="4236098685"/>
                  </a:ext>
                </a:extLst>
              </a:tr>
              <a:tr h="418012">
                <a:tc>
                  <a:txBody>
                    <a:bodyPr/>
                    <a:lstStyle/>
                    <a:p>
                      <a:r>
                        <a:rPr lang="en-US" dirty="0"/>
                        <a:t>Age at last birthday</a:t>
                      </a:r>
                    </a:p>
                  </a:txBody>
                  <a:tcPr/>
                </a:tc>
                <a:tc>
                  <a:txBody>
                    <a:bodyPr/>
                    <a:lstStyle/>
                    <a:p>
                      <a:r>
                        <a:rPr lang="en-US" dirty="0" smtClean="0"/>
                        <a:t>r=0.06</a:t>
                      </a:r>
                    </a:p>
                    <a:p>
                      <a:r>
                        <a:rPr lang="en-US" dirty="0" smtClean="0"/>
                        <a:t>p-value = 1.871e-10</a:t>
                      </a:r>
                      <a:endParaRPr lang="en-US" dirty="0"/>
                    </a:p>
                  </a:txBody>
                  <a:tcPr/>
                </a:tc>
                <a:tc>
                  <a:txBody>
                    <a:bodyPr/>
                    <a:lstStyle/>
                    <a:p>
                      <a:r>
                        <a:rPr lang="en-GB" dirty="0" smtClean="0"/>
                        <a:t>r=-0.04</a:t>
                      </a:r>
                    </a:p>
                    <a:p>
                      <a:r>
                        <a:rPr lang="en-US" dirty="0" smtClean="0"/>
                        <a:t>p-value = 1.125e-05</a:t>
                      </a:r>
                      <a:endParaRPr lang="en-US" dirty="0"/>
                    </a:p>
                  </a:txBody>
                  <a:tcPr/>
                </a:tc>
                <a:tc>
                  <a:txBody>
                    <a:bodyPr/>
                    <a:lstStyle/>
                    <a:p>
                      <a:endParaRPr lang="en-US" dirty="0"/>
                    </a:p>
                  </a:txBody>
                  <a:tcPr/>
                </a:tc>
                <a:tc>
                  <a:txBody>
                    <a:bodyPr/>
                    <a:lstStyle/>
                    <a:p>
                      <a:r>
                        <a:rPr lang="en-GB" dirty="0" smtClean="0"/>
                        <a:t>r=0.032</a:t>
                      </a:r>
                    </a:p>
                    <a:p>
                      <a:r>
                        <a:rPr lang="en-US" dirty="0" smtClean="0"/>
                        <a:t>p-value = 0.0007558</a:t>
                      </a:r>
                      <a:endParaRPr lang="en-US" dirty="0"/>
                    </a:p>
                  </a:txBody>
                  <a:tcPr/>
                </a:tc>
                <a:extLst>
                  <a:ext uri="{0D108BD9-81ED-4DB2-BD59-A6C34878D82A}">
                    <a16:rowId xmlns:a16="http://schemas.microsoft.com/office/drawing/2014/main" val="2068867603"/>
                  </a:ext>
                </a:extLst>
              </a:tr>
              <a:tr h="366361">
                <a:tc>
                  <a:txBody>
                    <a:bodyPr/>
                    <a:lstStyle/>
                    <a:p>
                      <a:r>
                        <a:rPr lang="en-US" dirty="0"/>
                        <a:t>Gender</a:t>
                      </a:r>
                    </a:p>
                  </a:txBody>
                  <a:tcPr/>
                </a:tc>
                <a:tc>
                  <a:txBody>
                    <a:bodyPr/>
                    <a:lstStyle/>
                    <a:p>
                      <a:r>
                        <a:rPr lang="en-US" dirty="0" smtClean="0"/>
                        <a:t>r=0.11</a:t>
                      </a:r>
                    </a:p>
                    <a:p>
                      <a:r>
                        <a:rPr lang="en-US" dirty="0" smtClean="0"/>
                        <a:t>p-value &lt; 2.2e-16</a:t>
                      </a:r>
                      <a:endParaRPr lang="en-US" dirty="0"/>
                    </a:p>
                  </a:txBody>
                  <a:tcPr/>
                </a:tc>
                <a:tc>
                  <a:txBody>
                    <a:bodyPr/>
                    <a:lstStyle/>
                    <a:p>
                      <a:r>
                        <a:rPr lang="en-US" dirty="0" smtClean="0"/>
                        <a:t>r=-0.04</a:t>
                      </a:r>
                    </a:p>
                    <a:p>
                      <a:r>
                        <a:rPr lang="en-US" dirty="0" smtClean="0"/>
                        <a:t>p-value = 2.172e-05</a:t>
                      </a:r>
                      <a:endParaRPr lang="en-US" dirty="0"/>
                    </a:p>
                  </a:txBody>
                  <a:tcPr/>
                </a:tc>
                <a:tc>
                  <a:txBody>
                    <a:bodyPr/>
                    <a:lstStyle/>
                    <a:p>
                      <a:r>
                        <a:rPr lang="en-GB" dirty="0" smtClean="0"/>
                        <a:t>r=0.032</a:t>
                      </a:r>
                    </a:p>
                    <a:p>
                      <a:r>
                        <a:rPr lang="en-US" dirty="0" smtClean="0"/>
                        <a:t>p-value = 0.0007558</a:t>
                      </a:r>
                      <a:endParaRPr lang="en-US" dirty="0"/>
                    </a:p>
                  </a:txBody>
                  <a:tcPr/>
                </a:tc>
                <a:tc>
                  <a:txBody>
                    <a:bodyPr/>
                    <a:lstStyle/>
                    <a:p>
                      <a:endParaRPr lang="en-US" dirty="0"/>
                    </a:p>
                  </a:txBody>
                  <a:tcPr/>
                </a:tc>
                <a:extLst>
                  <a:ext uri="{0D108BD9-81ED-4DB2-BD59-A6C34878D82A}">
                    <a16:rowId xmlns:a16="http://schemas.microsoft.com/office/drawing/2014/main" val="496260669"/>
                  </a:ext>
                </a:extLst>
              </a:tr>
            </a:tbl>
          </a:graphicData>
        </a:graphic>
      </p:graphicFrame>
    </p:spTree>
    <p:extLst>
      <p:ext uri="{BB962C8B-B14F-4D97-AF65-F5344CB8AC3E}">
        <p14:creationId xmlns:p14="http://schemas.microsoft.com/office/powerpoint/2010/main" val="3549745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753" y="90805"/>
            <a:ext cx="10515600" cy="615777"/>
          </a:xfrm>
        </p:spPr>
        <p:txBody>
          <a:bodyPr>
            <a:normAutofit fontScale="90000"/>
          </a:bodyPr>
          <a:lstStyle/>
          <a:p>
            <a:r>
              <a:rPr lang="en-GB" dirty="0" smtClean="0"/>
              <a:t>Correlation interpretation</a:t>
            </a:r>
            <a:endParaRPr lang="en-US" dirty="0"/>
          </a:p>
        </p:txBody>
      </p:sp>
      <p:sp>
        <p:nvSpPr>
          <p:cNvPr id="6" name="Rectangle 5"/>
          <p:cNvSpPr/>
          <p:nvPr/>
        </p:nvSpPr>
        <p:spPr>
          <a:xfrm>
            <a:off x="129441" y="706582"/>
            <a:ext cx="11849199" cy="5632311"/>
          </a:xfrm>
          <a:prstGeom prst="rect">
            <a:avLst/>
          </a:prstGeom>
        </p:spPr>
        <p:txBody>
          <a:bodyPr wrap="square">
            <a:spAutoFit/>
          </a:bodyPr>
          <a:lstStyle/>
          <a:p>
            <a:r>
              <a:rPr lang="en-US" dirty="0" smtClean="0"/>
              <a:t>•	</a:t>
            </a:r>
            <a:r>
              <a:rPr lang="en-US" b="1" dirty="0" smtClean="0"/>
              <a:t>drinks </a:t>
            </a:r>
            <a:r>
              <a:rPr lang="en-US" b="1" dirty="0"/>
              <a:t>now days</a:t>
            </a:r>
            <a:r>
              <a:rPr lang="en-US" dirty="0"/>
              <a:t> and </a:t>
            </a:r>
            <a:r>
              <a:rPr lang="en-US" b="1" dirty="0"/>
              <a:t>total household income</a:t>
            </a:r>
          </a:p>
          <a:p>
            <a:r>
              <a:rPr lang="en-US" dirty="0"/>
              <a:t>The sample estimate of the Spearman correlation coefficient is </a:t>
            </a:r>
            <a:r>
              <a:rPr lang="en-US" b="1" i="1" dirty="0"/>
              <a:t>-0.15 </a:t>
            </a:r>
            <a:r>
              <a:rPr lang="en-US" dirty="0"/>
              <a:t>indicating a is a weak negative association between the two variables.</a:t>
            </a:r>
          </a:p>
          <a:p>
            <a:r>
              <a:rPr lang="en-US" dirty="0" smtClean="0"/>
              <a:t>•	</a:t>
            </a:r>
            <a:r>
              <a:rPr lang="en-US" b="1" dirty="0" smtClean="0"/>
              <a:t>drinks </a:t>
            </a:r>
            <a:r>
              <a:rPr lang="en-US" b="1" dirty="0"/>
              <a:t>now days </a:t>
            </a:r>
            <a:r>
              <a:rPr lang="en-US" dirty="0"/>
              <a:t>and </a:t>
            </a:r>
            <a:r>
              <a:rPr lang="en-US" b="1" dirty="0"/>
              <a:t>age at last birthday</a:t>
            </a:r>
          </a:p>
          <a:p>
            <a:r>
              <a:rPr lang="en-US" dirty="0"/>
              <a:t>The sample estimate of the Spearman correlation coefficient is </a:t>
            </a:r>
            <a:r>
              <a:rPr lang="en-US" b="1" i="1" dirty="0"/>
              <a:t>0.06</a:t>
            </a:r>
            <a:r>
              <a:rPr lang="en-US" dirty="0"/>
              <a:t> indicating a weak positive correlation between the two variables</a:t>
            </a:r>
          </a:p>
          <a:p>
            <a:r>
              <a:rPr lang="en-US" dirty="0"/>
              <a:t>•	</a:t>
            </a:r>
            <a:r>
              <a:rPr lang="en-US" b="1" dirty="0"/>
              <a:t>drinks now days </a:t>
            </a:r>
            <a:r>
              <a:rPr lang="en-US" dirty="0"/>
              <a:t>and </a:t>
            </a:r>
            <a:r>
              <a:rPr lang="en-US" b="1" dirty="0"/>
              <a:t>gender</a:t>
            </a:r>
          </a:p>
          <a:p>
            <a:r>
              <a:rPr lang="en-US" dirty="0"/>
              <a:t>The sample estimate of the Spearman correlation coefficient is </a:t>
            </a:r>
            <a:r>
              <a:rPr lang="en-US" b="1" i="1" dirty="0"/>
              <a:t>-0.11 </a:t>
            </a:r>
            <a:r>
              <a:rPr lang="en-US" dirty="0"/>
              <a:t>indicating a weak negative correlation between drinks now days and gender</a:t>
            </a:r>
          </a:p>
          <a:p>
            <a:r>
              <a:rPr lang="en-US" dirty="0"/>
              <a:t>•	</a:t>
            </a:r>
            <a:r>
              <a:rPr lang="en-US" b="1" dirty="0"/>
              <a:t>household income </a:t>
            </a:r>
            <a:r>
              <a:rPr lang="en-US" dirty="0"/>
              <a:t>and </a:t>
            </a:r>
            <a:r>
              <a:rPr lang="en-US" b="1" dirty="0"/>
              <a:t>age at last birthday</a:t>
            </a:r>
          </a:p>
          <a:p>
            <a:r>
              <a:rPr lang="en-US" dirty="0"/>
              <a:t>The sample estimate of the Spearman correlation coefficient is </a:t>
            </a:r>
            <a:r>
              <a:rPr lang="en-US" b="1" i="1" dirty="0"/>
              <a:t>-0.04 </a:t>
            </a:r>
            <a:r>
              <a:rPr lang="en-US" dirty="0"/>
              <a:t>indicating a weak negative correlation between total household income and age at last birthday</a:t>
            </a:r>
          </a:p>
          <a:p>
            <a:r>
              <a:rPr lang="en-US" dirty="0"/>
              <a:t>•	</a:t>
            </a:r>
            <a:r>
              <a:rPr lang="en-US" b="1" dirty="0"/>
              <a:t>total household income </a:t>
            </a:r>
            <a:r>
              <a:rPr lang="en-US" dirty="0"/>
              <a:t>and </a:t>
            </a:r>
            <a:r>
              <a:rPr lang="en-US" b="1" dirty="0"/>
              <a:t>gender</a:t>
            </a:r>
          </a:p>
          <a:p>
            <a:r>
              <a:rPr lang="en-US" dirty="0"/>
              <a:t>The sample estimate of the Spearman correlation coefficient is </a:t>
            </a:r>
            <a:r>
              <a:rPr lang="en-US" b="1" i="1" dirty="0"/>
              <a:t>-0.04 </a:t>
            </a:r>
            <a:r>
              <a:rPr lang="en-US" dirty="0"/>
              <a:t>indicating a weak negative correlation between total household income and gender</a:t>
            </a:r>
          </a:p>
          <a:p>
            <a:r>
              <a:rPr lang="en-US" dirty="0"/>
              <a:t>•	</a:t>
            </a:r>
            <a:r>
              <a:rPr lang="en-US" b="1" dirty="0"/>
              <a:t>age at last birthday </a:t>
            </a:r>
            <a:r>
              <a:rPr lang="en-US" dirty="0"/>
              <a:t>and </a:t>
            </a:r>
            <a:r>
              <a:rPr lang="en-US" b="1" dirty="0"/>
              <a:t>gender</a:t>
            </a:r>
          </a:p>
          <a:p>
            <a:r>
              <a:rPr lang="en-US" dirty="0"/>
              <a:t>The sample estimate of the Spearman correlation coefficient is </a:t>
            </a:r>
            <a:r>
              <a:rPr lang="en-US" b="1" i="1" dirty="0"/>
              <a:t>0.032</a:t>
            </a:r>
            <a:r>
              <a:rPr lang="en-US" dirty="0"/>
              <a:t> indicating a weak positive correlation between age at last birthday and </a:t>
            </a:r>
            <a:r>
              <a:rPr lang="en-US" dirty="0" smtClean="0"/>
              <a:t>gender</a:t>
            </a:r>
          </a:p>
          <a:p>
            <a:endParaRPr lang="en-US" dirty="0" smtClean="0"/>
          </a:p>
          <a:p>
            <a:r>
              <a:rPr lang="en-US" b="1" i="1" dirty="0" smtClean="0"/>
              <a:t>In </a:t>
            </a:r>
            <a:r>
              <a:rPr lang="en-US" b="1" i="1" dirty="0"/>
              <a:t>summary, all the p-values are less than 0.05 so we reject the null hypothesis of no correlation between the variables.</a:t>
            </a:r>
          </a:p>
        </p:txBody>
      </p:sp>
    </p:spTree>
    <p:extLst>
      <p:ext uri="{BB962C8B-B14F-4D97-AF65-F5344CB8AC3E}">
        <p14:creationId xmlns:p14="http://schemas.microsoft.com/office/powerpoint/2010/main" val="2394158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780"/>
          </a:xfrm>
        </p:spPr>
        <p:txBody>
          <a:bodyPr>
            <a:normAutofit/>
          </a:bodyPr>
          <a:lstStyle/>
          <a:p>
            <a:r>
              <a:rPr lang="en-US" sz="1800" dirty="0"/>
              <a:t>A discussion of </a:t>
            </a:r>
            <a:r>
              <a:rPr lang="en-US" sz="1800" dirty="0" smtClean="0"/>
              <a:t>findings </a:t>
            </a:r>
            <a:r>
              <a:rPr lang="en-US" sz="1800" dirty="0"/>
              <a:t>with reference to relevant literature on gender and alcohol in the UK</a:t>
            </a:r>
            <a:endParaRPr lang="en-US" sz="1800" dirty="0"/>
          </a:p>
        </p:txBody>
      </p:sp>
      <p:sp>
        <p:nvSpPr>
          <p:cNvPr id="4" name="Rectangle 3"/>
          <p:cNvSpPr/>
          <p:nvPr/>
        </p:nvSpPr>
        <p:spPr>
          <a:xfrm>
            <a:off x="107004" y="1595735"/>
            <a:ext cx="11682919" cy="2862322"/>
          </a:xfrm>
          <a:prstGeom prst="rect">
            <a:avLst/>
          </a:prstGeom>
        </p:spPr>
        <p:txBody>
          <a:bodyPr wrap="square">
            <a:spAutoFit/>
          </a:bodyPr>
          <a:lstStyle/>
          <a:p>
            <a:pPr marL="285750" indent="-285750">
              <a:buFont typeface="Arial" panose="020B0604020202020204" pitchFamily="34" charset="0"/>
              <a:buChar char="•"/>
            </a:pPr>
            <a:r>
              <a:rPr lang="en-US" dirty="0" smtClean="0"/>
              <a:t>Arsalan </a:t>
            </a:r>
            <a:r>
              <a:rPr lang="en-US" dirty="0"/>
              <a:t>et al. (2016) </a:t>
            </a:r>
            <a:r>
              <a:rPr lang="en-US" dirty="0" smtClean="0"/>
              <a:t>argue that there is </a:t>
            </a:r>
            <a:r>
              <a:rPr lang="en-US" dirty="0"/>
              <a:t>a consistent rise in alcohol consumption among women, </a:t>
            </a:r>
            <a:r>
              <a:rPr lang="en-US" dirty="0" smtClean="0"/>
              <a:t>although males </a:t>
            </a:r>
            <a:r>
              <a:rPr lang="en-US" dirty="0"/>
              <a:t>still exhibit higher overall </a:t>
            </a:r>
            <a:r>
              <a:rPr lang="en-US" dirty="0" smtClean="0"/>
              <a:t>consumption, the </a:t>
            </a:r>
            <a:r>
              <a:rPr lang="en-US" dirty="0"/>
              <a:t>statistically significant but weak negative correlation between gender and alcohol consumption in the UK population, with a correlation coefficient of -0.11, suggests minor </a:t>
            </a:r>
            <a:r>
              <a:rPr lang="en-US" dirty="0" smtClean="0"/>
              <a:t>association</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According to Davoren et al. (2016), there is notable narrowing </a:t>
            </a:r>
            <a:r>
              <a:rPr lang="en-US" dirty="0"/>
              <a:t>of the gender gap in alcohol consumption </a:t>
            </a:r>
            <a:r>
              <a:rPr lang="en-US" dirty="0"/>
              <a:t>among </a:t>
            </a:r>
            <a:r>
              <a:rPr lang="en-US" dirty="0"/>
              <a:t>university students in Ireland and the United Kingdom from 2002 to </a:t>
            </a:r>
            <a:r>
              <a:rPr lang="en-US" dirty="0" smtClean="0"/>
              <a:t>2014</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There is larger </a:t>
            </a:r>
            <a:r>
              <a:rPr lang="en-US" dirty="0"/>
              <a:t>reductions in </a:t>
            </a:r>
            <a:r>
              <a:rPr lang="en-US" dirty="0" smtClean="0"/>
              <a:t>alcohol consumption rates </a:t>
            </a:r>
            <a:r>
              <a:rPr lang="en-US" dirty="0"/>
              <a:t>among </a:t>
            </a:r>
            <a:r>
              <a:rPr lang="en-US" dirty="0" smtClean="0"/>
              <a:t>men at a </a:t>
            </a:r>
            <a:r>
              <a:rPr lang="en-US" dirty="0"/>
              <a:t>5.3% </a:t>
            </a:r>
            <a:r>
              <a:rPr lang="en-US" dirty="0" smtClean="0"/>
              <a:t>rate (Meier et al.,2021).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5" name="TextBox 4"/>
          <p:cNvSpPr txBox="1"/>
          <p:nvPr/>
        </p:nvSpPr>
        <p:spPr>
          <a:xfrm>
            <a:off x="321013" y="4640094"/>
            <a:ext cx="10710154" cy="2031325"/>
          </a:xfrm>
          <a:prstGeom prst="rect">
            <a:avLst/>
          </a:prstGeom>
          <a:noFill/>
        </p:spPr>
        <p:txBody>
          <a:bodyPr wrap="square" rtlCol="0">
            <a:spAutoFit/>
          </a:bodyPr>
          <a:lstStyle/>
          <a:p>
            <a:r>
              <a:rPr lang="en-GB" dirty="0"/>
              <a:t>References:</a:t>
            </a:r>
            <a:endParaRPr lang="en-US" dirty="0"/>
          </a:p>
          <a:p>
            <a:r>
              <a:rPr lang="en-US" dirty="0" err="1"/>
              <a:t>Moinuddin</a:t>
            </a:r>
            <a:r>
              <a:rPr lang="en-US" dirty="0"/>
              <a:t>, A., </a:t>
            </a:r>
            <a:r>
              <a:rPr lang="en-US" dirty="0" err="1"/>
              <a:t>Goel</a:t>
            </a:r>
            <a:r>
              <a:rPr lang="en-US" dirty="0"/>
              <a:t>, A., Saini, S., </a:t>
            </a:r>
            <a:r>
              <a:rPr lang="en-US" dirty="0" err="1"/>
              <a:t>Bajpai</a:t>
            </a:r>
            <a:r>
              <a:rPr lang="en-US" dirty="0"/>
              <a:t>, A. and </a:t>
            </a:r>
            <a:r>
              <a:rPr lang="en-US" dirty="0" err="1"/>
              <a:t>Misra</a:t>
            </a:r>
            <a:r>
              <a:rPr lang="en-US" dirty="0"/>
              <a:t>, R., 2016. Alcohol consumption and gender: a critical review. </a:t>
            </a:r>
            <a:r>
              <a:rPr lang="en-US" i="1" dirty="0"/>
              <a:t>J </a:t>
            </a:r>
            <a:r>
              <a:rPr lang="en-US" i="1" dirty="0" err="1"/>
              <a:t>Psychol</a:t>
            </a:r>
            <a:r>
              <a:rPr lang="en-US" i="1" dirty="0"/>
              <a:t> </a:t>
            </a:r>
            <a:r>
              <a:rPr lang="en-US" i="1" dirty="0" err="1"/>
              <a:t>Psychother</a:t>
            </a:r>
            <a:r>
              <a:rPr lang="en-US" dirty="0"/>
              <a:t>, </a:t>
            </a:r>
            <a:r>
              <a:rPr lang="en-US" i="1" dirty="0"/>
              <a:t>6</a:t>
            </a:r>
            <a:r>
              <a:rPr lang="en-US" dirty="0"/>
              <a:t>(3), pp.1-4.</a:t>
            </a:r>
          </a:p>
          <a:p>
            <a:r>
              <a:rPr lang="en-US" dirty="0"/>
              <a:t>Davoren, M.P., </a:t>
            </a:r>
            <a:r>
              <a:rPr lang="en-US" dirty="0" err="1"/>
              <a:t>Demant</a:t>
            </a:r>
            <a:r>
              <a:rPr lang="en-US" dirty="0"/>
              <a:t>, J., </a:t>
            </a:r>
            <a:r>
              <a:rPr lang="en-US" dirty="0" err="1"/>
              <a:t>Shiely</a:t>
            </a:r>
            <a:r>
              <a:rPr lang="en-US" dirty="0"/>
              <a:t>, F. and Perry, I.J., 2016. Alcohol consumption among university students in Ireland and the United Kingdom from 2002 to 2014: a systematic review. </a:t>
            </a:r>
            <a:r>
              <a:rPr lang="en-US" i="1" dirty="0"/>
              <a:t>BMC public health</a:t>
            </a:r>
            <a:r>
              <a:rPr lang="en-US" dirty="0"/>
              <a:t>, </a:t>
            </a:r>
            <a:r>
              <a:rPr lang="en-US" i="1" dirty="0"/>
              <a:t>16</a:t>
            </a:r>
            <a:r>
              <a:rPr lang="en-US" dirty="0"/>
              <a:t>(1), pp.1-13.</a:t>
            </a:r>
          </a:p>
          <a:p>
            <a:r>
              <a:rPr lang="en-US" dirty="0"/>
              <a:t>Meier, P.S., Holmes, J., Brennan, A. and Angus, C., 2021. Alcohol policy and gender: a modelling study estimating gender‐specific effects of alcohol pricing policies. </a:t>
            </a:r>
            <a:r>
              <a:rPr lang="en-US" i="1" dirty="0"/>
              <a:t>Addiction</a:t>
            </a:r>
            <a:r>
              <a:rPr lang="en-US" dirty="0"/>
              <a:t>, </a:t>
            </a:r>
            <a:r>
              <a:rPr lang="en-US" i="1" dirty="0"/>
              <a:t>116</a:t>
            </a:r>
            <a:r>
              <a:rPr lang="en-US" dirty="0"/>
              <a:t>(9), pp.2372-2384.</a:t>
            </a:r>
            <a:endParaRPr lang="en-US" dirty="0"/>
          </a:p>
        </p:txBody>
      </p:sp>
    </p:spTree>
    <p:extLst>
      <p:ext uri="{BB962C8B-B14F-4D97-AF65-F5344CB8AC3E}">
        <p14:creationId xmlns:p14="http://schemas.microsoft.com/office/powerpoint/2010/main" val="4284382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1481"/>
            <a:ext cx="10515600" cy="5515482"/>
          </a:xfrm>
        </p:spPr>
        <p:txBody>
          <a:bodyPr/>
          <a:lstStyle/>
          <a:p>
            <a:pPr marL="0" indent="0">
              <a:buNone/>
            </a:pPr>
            <a:r>
              <a:rPr lang="en-US" dirty="0" smtClean="0"/>
              <a:t>Conclusions</a:t>
            </a:r>
          </a:p>
          <a:p>
            <a:pPr marL="0" indent="0">
              <a:buNone/>
            </a:pPr>
            <a:r>
              <a:rPr lang="en-US" sz="1800" dirty="0" smtClean="0"/>
              <a:t>Research consistently demonstrates that there are gender differences in alcohol consumption patterns. While men tend to consume more alcohol on average compared to women, studies have shown that the gender gap in alcohol consumption has been narrowing over time. This may be attributed to various factors, including changes in societal norms, gender roles, and marketing strategies targeting women </a:t>
            </a:r>
            <a:r>
              <a:rPr lang="en-US" sz="1800" dirty="0"/>
              <a:t>(Meier et al.,2021).</a:t>
            </a:r>
            <a:endParaRPr lang="en-US" sz="1800" dirty="0" smtClean="0"/>
          </a:p>
          <a:p>
            <a:pPr marL="0" indent="0">
              <a:buNone/>
            </a:pPr>
            <a:endParaRPr lang="en-GB" sz="2000" i="1" dirty="0"/>
          </a:p>
          <a:p>
            <a:pPr marL="0" indent="0">
              <a:buNone/>
            </a:pPr>
            <a:r>
              <a:rPr lang="en-GB" dirty="0" smtClean="0"/>
              <a:t>Recommendation</a:t>
            </a:r>
          </a:p>
          <a:p>
            <a:pPr marL="0" indent="0">
              <a:buNone/>
            </a:pPr>
            <a:r>
              <a:rPr lang="en-US" sz="1800" dirty="0"/>
              <a:t>Further research and evidence-based interventions are needed to address the complex relationship between gender and alcohol consumption and mitigate associated health risks effectively</a:t>
            </a:r>
            <a:r>
              <a:rPr lang="en-US" sz="1800" dirty="0" smtClean="0"/>
              <a:t>.</a:t>
            </a:r>
          </a:p>
          <a:p>
            <a:pPr marL="0" indent="0">
              <a:buNone/>
            </a:pPr>
            <a:r>
              <a:rPr lang="en-US" sz="1800" dirty="0"/>
              <a:t>Public health efforts should focus on raising awareness, providing education, and promoting healthy behaviors to combat the rising trend of alcohol consumption among women and to address the emerging female alcohol </a:t>
            </a:r>
            <a:r>
              <a:rPr lang="en-US" sz="1800" dirty="0" smtClean="0"/>
              <a:t>epidemic (Fitzgerald et al., 2016).</a:t>
            </a:r>
            <a:endParaRPr lang="en-GB" sz="1800" dirty="0"/>
          </a:p>
          <a:p>
            <a:pPr marL="0" indent="0">
              <a:buNone/>
            </a:pPr>
            <a:endParaRPr lang="en-US" dirty="0"/>
          </a:p>
        </p:txBody>
      </p:sp>
    </p:spTree>
    <p:extLst>
      <p:ext uri="{BB962C8B-B14F-4D97-AF65-F5344CB8AC3E}">
        <p14:creationId xmlns:p14="http://schemas.microsoft.com/office/powerpoint/2010/main" val="1466565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4515</TotalTime>
  <Words>1503</Words>
  <Application>Microsoft Office PowerPoint</Application>
  <PresentationFormat>Widescreen</PresentationFormat>
  <Paragraphs>283</Paragraphs>
  <Slides>19</Slides>
  <Notes>2</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vt:lpstr>
      <vt:lpstr>Calibri</vt:lpstr>
      <vt:lpstr>Calibri Light</vt:lpstr>
      <vt:lpstr>Lucida Console</vt:lpstr>
      <vt:lpstr>Office Theme</vt:lpstr>
      <vt:lpstr>Statistical Presentation</vt:lpstr>
      <vt:lpstr>Introduction</vt:lpstr>
      <vt:lpstr>PowerPoint Presentation</vt:lpstr>
      <vt:lpstr>Descriptive Statistics</vt:lpstr>
      <vt:lpstr>Find the mean, median, mode, minimum, maximum, range and standard deviation of household size, BMI and age at last birthday</vt:lpstr>
      <vt:lpstr>Inferential Statistics</vt:lpstr>
      <vt:lpstr>Inferential Statistics cont. </vt:lpstr>
      <vt:lpstr>Inferential Statistics</vt:lpstr>
      <vt:lpstr>PowerPoint Presentation</vt:lpstr>
      <vt:lpstr>  Investigate whether there is a statistical difference between men and women on the following variables:  i. Valid height </vt:lpstr>
      <vt:lpstr>check for normal distribution in the height data</vt:lpstr>
      <vt:lpstr>PowerPoint Presentation</vt:lpstr>
      <vt:lpstr>  Investigate whether there is a statistical difference between men and women on the following variables:  i. Valid weight </vt:lpstr>
      <vt:lpstr>check for normal distribution in the weight data</vt:lpstr>
      <vt:lpstr>PowerPoint Presentation</vt:lpstr>
      <vt:lpstr>PowerPoint Presentation</vt:lpstr>
      <vt:lpstr>Correlation interpretation</vt:lpstr>
      <vt:lpstr>A discussion of findings with reference to relevant literature on gender and alcohol in the UK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Presentation</dc:title>
  <dc:creator>Alex Mutebe</dc:creator>
  <cp:lastModifiedBy>Alex Mutebe</cp:lastModifiedBy>
  <cp:revision>60</cp:revision>
  <dcterms:created xsi:type="dcterms:W3CDTF">2024-02-12T08:09:55Z</dcterms:created>
  <dcterms:modified xsi:type="dcterms:W3CDTF">2024-02-15T12:01:51Z</dcterms:modified>
</cp:coreProperties>
</file>